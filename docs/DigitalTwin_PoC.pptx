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e10a01bc-5ed1-6343-70df-bd48a1ee7699}">
          <p14:sldIdLst>
            <p14:sldId id="256"/>
            <p14:sldId id="257"/>
            <p14:sldId id="258"/>
          </p14:sldIdLst>
        </p14:section>
        <p14:section name="Method" id="{c6e88784-2fa6-c845-41fb-51f5a7c7cf52}">
          <p14:sldIdLst>
            <p14:sldId id="259"/>
            <p14:sldId id="260"/>
          </p14:sldIdLst>
        </p14:section>
        <p14:section name="Results" id="{d7343965-3880-7730-a69d-4d8308ea0698}">
          <p14:sldIdLst>
            <p14:sldId id="261"/>
            <p14:sldId id="262"/>
            <p14:sldId id="263"/>
            <p14:sldId id="264"/>
            <p14:sldId id="265"/>
          </p14:sldIdLst>
        </p14:section>
        <p14:section name="Reality check" id="{c0c7dbcd-2963-41a0-2067-d9837d00c787}">
          <p14:sldIdLst>
            <p14:sldId id="266"/>
            <p14:sldId id="267"/>
            <p14:sldId id="268"/>
          </p14:sldIdLst>
        </p14:section>
        <p14:section name="Wrap-up" id="{9dc1a549-3eef-f481-6546-d61e9fc59df8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A2A"/>
                </a:solidFill>
                <a:latin typeface="+mn-lt"/>
              </a:rPr>
              <a:t>ROC-AUC by feature set (axis starts at 0.70)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B8D3C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A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D3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A9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7F7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5634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Clinic record only</c:v>
                  </c:pt>
                  <c:pt idx="1">
                    <c:v>Shortcut control</c:v>
                  </c:pt>
                  <c:pt idx="2">
                    <c:v>Wearable only</c:v>
                  </c:pt>
                  <c:pt idx="3">
                    <c:v>Full model (both)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0.823</c:v>
                </c:pt>
                <c:pt idx="1">
                  <c:v>0.854</c:v>
                </c:pt>
                <c:pt idx="2">
                  <c:v>0.871</c:v>
                </c:pt>
                <c:pt idx="3">
                  <c:v>0.876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400" u="none">
                  <a:solidFill>
                    <a:srgbClr val="1E2A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7"/>
        </c:scaling>
        <c:delete val="0"/>
        <c:axPos val="l"/>
        <c:majorGridlines>
          <c:spPr>
            <a:ln w="9525" cap="flat">
              <a:solidFill>
                <a:srgbClr val="D9E3E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C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A2A"/>
                </a:solidFill>
                <a:latin typeface="+mn-lt"/>
              </a:rPr>
              <a:t>Share of the model's decision weight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importance (%)</c:v>
                </c:pt>
              </c:strCache>
            </c:strRef>
          </c:tx>
          <c:spPr>
            <a:solidFill>
              <a:srgbClr val="B8D3C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D3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D3C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D3C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A99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FA99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7F7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5634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5634D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Glucose variability (3 h)</c:v>
                  </c:pt>
                  <c:pt idx="1">
                    <c:v>HRV right now</c:v>
                  </c:pt>
                  <c:pt idx="2">
                    <c:v>BMI</c:v>
                  </c:pt>
                  <c:pt idx="3">
                    <c:v>HbA1c</c:v>
                  </c:pt>
                  <c:pt idx="4">
                    <c:v>Age</c:v>
                  </c:pt>
                  <c:pt idx="5">
                    <c:v>Glucose average (3 h)</c:v>
                  </c:pt>
                  <c:pt idx="6">
                    <c:v>Time of day</c:v>
                  </c:pt>
                  <c:pt idx="7">
                    <c:v>HRV average (3 h)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4.5</c:v>
                </c:pt>
                <c:pt idx="1">
                  <c:v>4.7</c:v>
                </c:pt>
                <c:pt idx="2">
                  <c:v>6</c:v>
                </c:pt>
                <c:pt idx="3">
                  <c:v>6.3</c:v>
                </c:pt>
                <c:pt idx="4">
                  <c:v>7.1</c:v>
                </c:pt>
                <c:pt idx="5">
                  <c:v>10.9</c:v>
                </c:pt>
                <c:pt idx="6">
                  <c:v>15</c:v>
                </c:pt>
                <c:pt idx="7">
                  <c:v>15.3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E2A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A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A2A"/>
                </a:solidFill>
                <a:latin typeface="+mn-lt"/>
              </a:rPr>
              <a:t>Patient P100133: 48 hours of glucose (synthetic)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Glucose (mg/dL)</c:v>
                </c:pt>
              </c:strCache>
            </c:strRef>
          </c:tx>
          <c:spPr>
            <a:solidFill>
              <a:srgbClr val="E5634D"/>
            </a:solidFill>
            <a:ln w="31750" cap="flat">
              <a:solidFill>
                <a:srgbClr val="E563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5634D"/>
              </a:solidFill>
              <a:ln w="9525" cap="flat">
                <a:solidFill>
                  <a:srgbClr val="E563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Sheet1!$A$2:$A$193</c:f>
              <c:multiLvlStrCache>
                <c:ptCount val="192"/>
                <c:lvl>
                  <c:pt idx="0">
                    <c:v>08-19 22:00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 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 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 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08-20 06:00</c:v>
                  </c:pt>
                  <c:pt idx="33">
                    <c:v> </c:v>
                  </c:pt>
                  <c:pt idx="34">
                    <c:v> </c:v>
                  </c:pt>
                  <c:pt idx="35">
                    <c:v> </c:v>
                  </c:pt>
                  <c:pt idx="36">
                    <c:v> 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 </c:v>
                  </c:pt>
                  <c:pt idx="41">
                    <c:v> </c:v>
                  </c:pt>
                  <c:pt idx="42">
                    <c:v> </c:v>
                  </c:pt>
                  <c:pt idx="43">
                    <c:v> </c:v>
                  </c:pt>
                  <c:pt idx="44">
                    <c:v> </c:v>
                  </c:pt>
                  <c:pt idx="45">
                    <c:v> </c:v>
                  </c:pt>
                  <c:pt idx="46">
                    <c:v> </c:v>
                  </c:pt>
                  <c:pt idx="47">
                    <c:v> </c:v>
                  </c:pt>
                  <c:pt idx="48">
                    <c:v> </c:v>
                  </c:pt>
                  <c:pt idx="49">
                    <c:v> </c:v>
                  </c:pt>
                  <c:pt idx="50">
                    <c:v> </c:v>
                  </c:pt>
                  <c:pt idx="51">
                    <c:v> </c:v>
                  </c:pt>
                  <c:pt idx="52">
                    <c:v> </c:v>
                  </c:pt>
                  <c:pt idx="53">
                    <c:v> </c:v>
                  </c:pt>
                  <c:pt idx="54">
                    <c:v> </c:v>
                  </c:pt>
                  <c:pt idx="55">
                    <c:v> </c:v>
                  </c:pt>
                  <c:pt idx="56">
                    <c:v> </c:v>
                  </c:pt>
                  <c:pt idx="57">
                    <c:v> </c:v>
                  </c:pt>
                  <c:pt idx="58">
                    <c:v> </c:v>
                  </c:pt>
                  <c:pt idx="59">
                    <c:v> </c:v>
                  </c:pt>
                  <c:pt idx="60">
                    <c:v> </c:v>
                  </c:pt>
                  <c:pt idx="61">
                    <c:v> </c:v>
                  </c:pt>
                  <c:pt idx="62">
                    <c:v> </c:v>
                  </c:pt>
                  <c:pt idx="63">
                    <c:v> </c:v>
                  </c:pt>
                  <c:pt idx="64">
                    <c:v>08-20 14:00</c:v>
                  </c:pt>
                  <c:pt idx="65">
                    <c:v> </c:v>
                  </c:pt>
                  <c:pt idx="66">
                    <c:v> </c:v>
                  </c:pt>
                  <c:pt idx="67">
                    <c:v> </c:v>
                  </c:pt>
                  <c:pt idx="68">
                    <c:v> </c:v>
                  </c:pt>
                  <c:pt idx="69">
                    <c:v> </c:v>
                  </c:pt>
                  <c:pt idx="70">
                    <c:v> </c:v>
                  </c:pt>
                  <c:pt idx="71">
                    <c:v> </c:v>
                  </c:pt>
                  <c:pt idx="72">
                    <c:v> </c:v>
                  </c:pt>
                  <c:pt idx="73">
                    <c:v> </c:v>
                  </c:pt>
                  <c:pt idx="74">
                    <c:v> </c:v>
                  </c:pt>
                  <c:pt idx="75">
                    <c:v> </c:v>
                  </c:pt>
                  <c:pt idx="76">
                    <c:v> </c:v>
                  </c:pt>
                  <c:pt idx="77">
                    <c:v> </c:v>
                  </c:pt>
                  <c:pt idx="78">
                    <c:v> </c:v>
                  </c:pt>
                  <c:pt idx="79">
                    <c:v> </c:v>
                  </c:pt>
                  <c:pt idx="80">
                    <c:v> </c:v>
                  </c:pt>
                  <c:pt idx="81">
                    <c:v> </c:v>
                  </c:pt>
                  <c:pt idx="82">
                    <c:v> </c:v>
                  </c:pt>
                  <c:pt idx="83">
                    <c:v> </c:v>
                  </c:pt>
                  <c:pt idx="84">
                    <c:v> </c:v>
                  </c:pt>
                  <c:pt idx="85">
                    <c:v> </c:v>
                  </c:pt>
                  <c:pt idx="86">
                    <c:v> </c:v>
                  </c:pt>
                  <c:pt idx="87">
                    <c:v> </c:v>
                  </c:pt>
                  <c:pt idx="88">
                    <c:v> </c:v>
                  </c:pt>
                  <c:pt idx="89">
                    <c:v> </c:v>
                  </c:pt>
                  <c:pt idx="90">
                    <c:v> </c:v>
                  </c:pt>
                  <c:pt idx="91">
                    <c:v> </c:v>
                  </c:pt>
                  <c:pt idx="92">
                    <c:v> </c:v>
                  </c:pt>
                  <c:pt idx="93">
                    <c:v> </c:v>
                  </c:pt>
                  <c:pt idx="94">
                    <c:v> </c:v>
                  </c:pt>
                  <c:pt idx="95">
                    <c:v> </c:v>
                  </c:pt>
                  <c:pt idx="96">
                    <c:v>08-20 22:00</c:v>
                  </c:pt>
                  <c:pt idx="97">
                    <c:v> </c:v>
                  </c:pt>
                  <c:pt idx="98">
                    <c:v> </c:v>
                  </c:pt>
                  <c:pt idx="99">
                    <c:v> </c:v>
                  </c:pt>
                  <c:pt idx="100">
                    <c:v> </c:v>
                  </c:pt>
                  <c:pt idx="101">
                    <c:v> </c:v>
                  </c:pt>
                  <c:pt idx="102">
                    <c:v> </c:v>
                  </c:pt>
                  <c:pt idx="103">
                    <c:v> </c:v>
                  </c:pt>
                  <c:pt idx="104">
                    <c:v> </c:v>
                  </c:pt>
                  <c:pt idx="105">
                    <c:v> </c:v>
                  </c:pt>
                  <c:pt idx="106">
                    <c:v> </c:v>
                  </c:pt>
                  <c:pt idx="107">
                    <c:v> </c:v>
                  </c:pt>
                  <c:pt idx="108">
                    <c:v> </c:v>
                  </c:pt>
                  <c:pt idx="109">
                    <c:v> </c:v>
                  </c:pt>
                  <c:pt idx="110">
                    <c:v> </c:v>
                  </c:pt>
                  <c:pt idx="111">
                    <c:v> </c:v>
                  </c:pt>
                  <c:pt idx="112">
                    <c:v> </c:v>
                  </c:pt>
                  <c:pt idx="113">
                    <c:v> </c:v>
                  </c:pt>
                  <c:pt idx="114">
                    <c:v> </c:v>
                  </c:pt>
                  <c:pt idx="115">
                    <c:v> </c:v>
                  </c:pt>
                  <c:pt idx="116">
                    <c:v> </c:v>
                  </c:pt>
                  <c:pt idx="117">
                    <c:v> </c:v>
                  </c:pt>
                  <c:pt idx="118">
                    <c:v> </c:v>
                  </c:pt>
                  <c:pt idx="119">
                    <c:v> </c:v>
                  </c:pt>
                  <c:pt idx="120">
                    <c:v> </c:v>
                  </c:pt>
                  <c:pt idx="121">
                    <c:v> </c:v>
                  </c:pt>
                  <c:pt idx="122">
                    <c:v> </c:v>
                  </c:pt>
                  <c:pt idx="123">
                    <c:v> </c:v>
                  </c:pt>
                  <c:pt idx="124">
                    <c:v> </c:v>
                  </c:pt>
                  <c:pt idx="125">
                    <c:v> </c:v>
                  </c:pt>
                  <c:pt idx="126">
                    <c:v> </c:v>
                  </c:pt>
                  <c:pt idx="127">
                    <c:v> </c:v>
                  </c:pt>
                  <c:pt idx="128">
                    <c:v>08-21 06:00</c:v>
                  </c:pt>
                  <c:pt idx="129">
                    <c:v> </c:v>
                  </c:pt>
                  <c:pt idx="130">
                    <c:v> </c:v>
                  </c:pt>
                  <c:pt idx="131">
                    <c:v> </c:v>
                  </c:pt>
                  <c:pt idx="132">
                    <c:v> </c:v>
                  </c:pt>
                  <c:pt idx="133">
                    <c:v> </c:v>
                  </c:pt>
                  <c:pt idx="134">
                    <c:v> </c:v>
                  </c:pt>
                  <c:pt idx="135">
                    <c:v> </c:v>
                  </c:pt>
                  <c:pt idx="136">
                    <c:v> </c:v>
                  </c:pt>
                  <c:pt idx="137">
                    <c:v> </c:v>
                  </c:pt>
                  <c:pt idx="138">
                    <c:v> </c:v>
                  </c:pt>
                  <c:pt idx="139">
                    <c:v> </c:v>
                  </c:pt>
                  <c:pt idx="140">
                    <c:v> </c:v>
                  </c:pt>
                  <c:pt idx="141">
                    <c:v> </c:v>
                  </c:pt>
                  <c:pt idx="142">
                    <c:v> </c:v>
                  </c:pt>
                  <c:pt idx="143">
                    <c:v> </c:v>
                  </c:pt>
                  <c:pt idx="144">
                    <c:v> </c:v>
                  </c:pt>
                  <c:pt idx="145">
                    <c:v> </c:v>
                  </c:pt>
                  <c:pt idx="146">
                    <c:v> </c:v>
                  </c:pt>
                  <c:pt idx="147">
                    <c:v> </c:v>
                  </c:pt>
                  <c:pt idx="148">
                    <c:v> </c:v>
                  </c:pt>
                  <c:pt idx="149">
                    <c:v> </c:v>
                  </c:pt>
                  <c:pt idx="150">
                    <c:v> </c:v>
                  </c:pt>
                  <c:pt idx="151">
                    <c:v> </c:v>
                  </c:pt>
                  <c:pt idx="152">
                    <c:v> </c:v>
                  </c:pt>
                  <c:pt idx="153">
                    <c:v> </c:v>
                  </c:pt>
                  <c:pt idx="154">
                    <c:v> </c:v>
                  </c:pt>
                  <c:pt idx="155">
                    <c:v> </c:v>
                  </c:pt>
                  <c:pt idx="156">
                    <c:v> </c:v>
                  </c:pt>
                  <c:pt idx="157">
                    <c:v> </c:v>
                  </c:pt>
                  <c:pt idx="158">
                    <c:v> </c:v>
                  </c:pt>
                  <c:pt idx="159">
                    <c:v> </c:v>
                  </c:pt>
                  <c:pt idx="160">
                    <c:v>08-21 14:00</c:v>
                  </c:pt>
                  <c:pt idx="161">
                    <c:v> </c:v>
                  </c:pt>
                  <c:pt idx="162">
                    <c:v> </c:v>
                  </c:pt>
                  <c:pt idx="163">
                    <c:v> </c:v>
                  </c:pt>
                  <c:pt idx="164">
                    <c:v> </c:v>
                  </c:pt>
                  <c:pt idx="165">
                    <c:v> </c:v>
                  </c:pt>
                  <c:pt idx="166">
                    <c:v> </c:v>
                  </c:pt>
                  <c:pt idx="167">
                    <c:v> </c:v>
                  </c:pt>
                  <c:pt idx="168">
                    <c:v> </c:v>
                  </c:pt>
                  <c:pt idx="169">
                    <c:v> </c:v>
                  </c:pt>
                  <c:pt idx="170">
                    <c:v> </c:v>
                  </c:pt>
                  <c:pt idx="171">
                    <c:v> </c:v>
                  </c:pt>
                  <c:pt idx="172">
                    <c:v> </c:v>
                  </c:pt>
                  <c:pt idx="173">
                    <c:v> </c:v>
                  </c:pt>
                  <c:pt idx="174">
                    <c:v> </c:v>
                  </c:pt>
                  <c:pt idx="175">
                    <c:v> </c:v>
                  </c:pt>
                  <c:pt idx="176">
                    <c:v> </c:v>
                  </c:pt>
                  <c:pt idx="177">
                    <c:v> </c:v>
                  </c:pt>
                  <c:pt idx="178">
                    <c:v> </c:v>
                  </c:pt>
                  <c:pt idx="179">
                    <c:v> </c:v>
                  </c:pt>
                  <c:pt idx="180">
                    <c:v> </c:v>
                  </c:pt>
                  <c:pt idx="181">
                    <c:v> </c:v>
                  </c:pt>
                  <c:pt idx="182">
                    <c:v> </c:v>
                  </c:pt>
                  <c:pt idx="183">
                    <c:v> </c:v>
                  </c:pt>
                  <c:pt idx="184">
                    <c:v> </c:v>
                  </c:pt>
                  <c:pt idx="185">
                    <c:v> </c:v>
                  </c:pt>
                  <c:pt idx="186">
                    <c:v> </c:v>
                  </c:pt>
                  <c:pt idx="187">
                    <c:v> </c:v>
                  </c:pt>
                  <c:pt idx="188">
                    <c:v> </c:v>
                  </c:pt>
                  <c:pt idx="189">
                    <c:v> </c:v>
                  </c:pt>
                  <c:pt idx="190">
                    <c:v> </c:v>
                  </c:pt>
                  <c:pt idx="191">
                    <c:v> </c:v>
                  </c:pt>
                </c:lvl>
              </c:multiLvlStrCache>
            </c:multiLvlStrRef>
          </c:cat>
          <c:val>
            <c:numRef>
              <c:f>Sheet1!$B$2:$B$193</c:f>
              <c:numCache>
                <c:formatCode>General</c:formatCode>
                <c:ptCount val="192"/>
                <c:pt idx="0">
                  <c:v>177.1</c:v>
                </c:pt>
                <c:pt idx="1">
                  <c:v>241.7</c:v>
                </c:pt>
                <c:pt idx="2">
                  <c:v>171.1</c:v>
                </c:pt>
                <c:pt idx="3">
                  <c:v>154.8</c:v>
                </c:pt>
                <c:pt idx="4">
                  <c:v>146</c:v>
                </c:pt>
                <c:pt idx="5">
                  <c:v>148</c:v>
                </c:pt>
                <c:pt idx="6">
                  <c:v>148.6</c:v>
                </c:pt>
                <c:pt idx="7">
                  <c:v>167.3</c:v>
                </c:pt>
                <c:pt idx="8">
                  <c:v>132.3</c:v>
                </c:pt>
                <c:pt idx="9">
                  <c:v>150.7</c:v>
                </c:pt>
                <c:pt idx="10">
                  <c:v>151.9</c:v>
                </c:pt>
                <c:pt idx="11">
                  <c:v>140.6</c:v>
                </c:pt>
                <c:pt idx="12">
                  <c:v>166.3</c:v>
                </c:pt>
                <c:pt idx="13">
                  <c:v>161.5</c:v>
                </c:pt>
                <c:pt idx="14">
                  <c:v>160</c:v>
                </c:pt>
                <c:pt idx="15">
                  <c:v>150.7</c:v>
                </c:pt>
                <c:pt idx="16">
                  <c:v>150.6</c:v>
                </c:pt>
                <c:pt idx="17">
                  <c:v>177.8</c:v>
                </c:pt>
                <c:pt idx="18">
                  <c:v>191.3</c:v>
                </c:pt>
                <c:pt idx="19">
                  <c:v>151.6</c:v>
                </c:pt>
                <c:pt idx="20">
                  <c:v>173.5</c:v>
                </c:pt>
                <c:pt idx="21">
                  <c:v>190.5</c:v>
                </c:pt>
                <c:pt idx="22">
                  <c:v>164.8</c:v>
                </c:pt>
                <c:pt idx="23">
                  <c:v>177.4</c:v>
                </c:pt>
                <c:pt idx="24">
                  <c:v>209.6</c:v>
                </c:pt>
                <c:pt idx="25">
                  <c:v>164.4</c:v>
                </c:pt>
                <c:pt idx="26">
                  <c:v>208.5</c:v>
                </c:pt>
                <c:pt idx="27">
                  <c:v>165.7</c:v>
                </c:pt>
                <c:pt idx="28">
                  <c:v>149.4</c:v>
                </c:pt>
                <c:pt idx="29">
                  <c:v>224.4</c:v>
                </c:pt>
                <c:pt idx="30">
                  <c:v>176.7</c:v>
                </c:pt>
                <c:pt idx="31">
                  <c:v>183.3</c:v>
                </c:pt>
                <c:pt idx="32">
                  <c:v>188.1</c:v>
                </c:pt>
                <c:pt idx="33">
                  <c:v>187.4</c:v>
                </c:pt>
                <c:pt idx="34">
                  <c:v>181.5</c:v>
                </c:pt>
                <c:pt idx="35">
                  <c:v>191.9</c:v>
                </c:pt>
                <c:pt idx="36">
                  <c:v>188.5</c:v>
                </c:pt>
                <c:pt idx="37">
                  <c:v>176.4</c:v>
                </c:pt>
                <c:pt idx="38">
                  <c:v>163.3</c:v>
                </c:pt>
                <c:pt idx="39">
                  <c:v>174.7</c:v>
                </c:pt>
                <c:pt idx="40">
                  <c:v>173.2</c:v>
                </c:pt>
                <c:pt idx="41">
                  <c:v>158.9</c:v>
                </c:pt>
                <c:pt idx="42">
                  <c:v>158.7</c:v>
                </c:pt>
                <c:pt idx="43">
                  <c:v>208.4</c:v>
                </c:pt>
                <c:pt idx="44">
                  <c:v>163.9</c:v>
                </c:pt>
                <c:pt idx="45">
                  <c:v>170.6</c:v>
                </c:pt>
                <c:pt idx="46">
                  <c:v>175.8</c:v>
                </c:pt>
                <c:pt idx="47">
                  <c:v>162.2</c:v>
                </c:pt>
                <c:pt idx="48">
                  <c:v>166.6</c:v>
                </c:pt>
                <c:pt idx="49">
                  <c:v>170.1</c:v>
                </c:pt>
                <c:pt idx="50">
                  <c:v>184.2</c:v>
                </c:pt>
                <c:pt idx="51">
                  <c:v>193.4</c:v>
                </c:pt>
                <c:pt idx="52">
                  <c:v>202.7</c:v>
                </c:pt>
                <c:pt idx="53">
                  <c:v>209.5</c:v>
                </c:pt>
                <c:pt idx="54">
                  <c:v>199.8</c:v>
                </c:pt>
                <c:pt idx="55">
                  <c:v>190.4</c:v>
                </c:pt>
                <c:pt idx="56">
                  <c:v>201.6</c:v>
                </c:pt>
                <c:pt idx="57">
                  <c:v>184.7</c:v>
                </c:pt>
                <c:pt idx="58">
                  <c:v>263.5</c:v>
                </c:pt>
                <c:pt idx="59">
                  <c:v>180.7</c:v>
                </c:pt>
                <c:pt idx="60">
                  <c:v>180</c:v>
                </c:pt>
                <c:pt idx="61">
                  <c:v>163</c:v>
                </c:pt>
                <c:pt idx="62">
                  <c:v>193.6</c:v>
                </c:pt>
                <c:pt idx="63">
                  <c:v>188.9</c:v>
                </c:pt>
                <c:pt idx="64">
                  <c:v>177.6</c:v>
                </c:pt>
                <c:pt idx="65">
                  <c:v>147.1</c:v>
                </c:pt>
                <c:pt idx="66">
                  <c:v>150.7</c:v>
                </c:pt>
                <c:pt idx="67">
                  <c:v>162.3</c:v>
                </c:pt>
                <c:pt idx="68">
                  <c:v>158.2</c:v>
                </c:pt>
                <c:pt idx="69">
                  <c:v>400</c:v>
                </c:pt>
                <c:pt idx="70">
                  <c:v>158.7</c:v>
                </c:pt>
                <c:pt idx="71">
                  <c:v>164.9</c:v>
                </c:pt>
                <c:pt idx="72">
                  <c:v>171.2</c:v>
                </c:pt>
                <c:pt idx="73">
                  <c:v>142.8</c:v>
                </c:pt>
                <c:pt idx="74">
                  <c:v>151</c:v>
                </c:pt>
                <c:pt idx="75">
                  <c:v>159.9</c:v>
                </c:pt>
                <c:pt idx="76">
                  <c:v>174.4</c:v>
                </c:pt>
                <c:pt idx="77">
                  <c:v>166.6</c:v>
                </c:pt>
                <c:pt idx="78">
                  <c:v>189</c:v>
                </c:pt>
                <c:pt idx="79">
                  <c:v>170.6</c:v>
                </c:pt>
                <c:pt idx="80">
                  <c:v>187</c:v>
                </c:pt>
                <c:pt idx="81">
                  <c:v>224.3</c:v>
                </c:pt>
                <c:pt idx="82">
                  <c:v>180.8</c:v>
                </c:pt>
                <c:pt idx="83">
                  <c:v>176.4</c:v>
                </c:pt>
                <c:pt idx="84">
                  <c:v>191.1</c:v>
                </c:pt>
                <c:pt idx="85">
                  <c:v>178.1</c:v>
                </c:pt>
                <c:pt idx="86">
                  <c:v>206.5</c:v>
                </c:pt>
                <c:pt idx="87">
                  <c:v>217.8</c:v>
                </c:pt>
                <c:pt idx="88">
                  <c:v>175.6</c:v>
                </c:pt>
                <c:pt idx="89">
                  <c:v>200.1</c:v>
                </c:pt>
                <c:pt idx="90">
                  <c:v>195.3</c:v>
                </c:pt>
                <c:pt idx="91">
                  <c:v>171.6</c:v>
                </c:pt>
                <c:pt idx="92">
                  <c:v>186.5</c:v>
                </c:pt>
                <c:pt idx="93">
                  <c:v>189.4</c:v>
                </c:pt>
                <c:pt idx="94">
                  <c:v>209.9</c:v>
                </c:pt>
                <c:pt idx="95">
                  <c:v>181.2</c:v>
                </c:pt>
                <c:pt idx="96">
                  <c:v>182.6</c:v>
                </c:pt>
                <c:pt idx="97">
                  <c:v>178.5</c:v>
                </c:pt>
                <c:pt idx="98">
                  <c:v>178.8</c:v>
                </c:pt>
                <c:pt idx="99">
                  <c:v>172.3</c:v>
                </c:pt>
                <c:pt idx="100">
                  <c:v>141</c:v>
                </c:pt>
                <c:pt idx="101">
                  <c:v>158.1</c:v>
                </c:pt>
                <c:pt idx="102">
                  <c:v>208.1</c:v>
                </c:pt>
                <c:pt idx="103">
                  <c:v>155.4</c:v>
                </c:pt>
                <c:pt idx="104">
                  <c:v>161.9</c:v>
                </c:pt>
                <c:pt idx="105">
                  <c:v>152.7</c:v>
                </c:pt>
                <c:pt idx="106">
                  <c:v>211.2</c:v>
                </c:pt>
                <c:pt idx="107">
                  <c:v>154</c:v>
                </c:pt>
                <c:pt idx="108">
                  <c:v>153.3</c:v>
                </c:pt>
                <c:pt idx="109">
                  <c:v>161.3</c:v>
                </c:pt>
                <c:pt idx="110">
                  <c:v>143.2</c:v>
                </c:pt>
                <c:pt idx="111">
                  <c:v>144</c:v>
                </c:pt>
                <c:pt idx="112">
                  <c:v>139.5</c:v>
                </c:pt>
                <c:pt idx="113">
                  <c:v>129.3</c:v>
                </c:pt>
                <c:pt idx="114">
                  <c:v>129.8</c:v>
                </c:pt>
                <c:pt idx="115">
                  <c:v>125.8</c:v>
                </c:pt>
                <c:pt idx="116">
                  <c:v>136.8</c:v>
                </c:pt>
                <c:pt idx="117">
                  <c:v>140</c:v>
                </c:pt>
                <c:pt idx="118">
                  <c:v>169</c:v>
                </c:pt>
                <c:pt idx="119">
                  <c:v>139.4</c:v>
                </c:pt>
                <c:pt idx="120">
                  <c:v>174.6</c:v>
                </c:pt>
                <c:pt idx="121">
                  <c:v>138.3</c:v>
                </c:pt>
                <c:pt idx="122">
                  <c:v>136.7</c:v>
                </c:pt>
                <c:pt idx="123">
                  <c:v>155.1</c:v>
                </c:pt>
                <c:pt idx="124">
                  <c:v>146.2</c:v>
                </c:pt>
                <c:pt idx="125">
                  <c:v>168.8</c:v>
                </c:pt>
                <c:pt idx="126">
                  <c:v>172.6</c:v>
                </c:pt>
                <c:pt idx="127">
                  <c:v>152.5</c:v>
                </c:pt>
                <c:pt idx="128">
                  <c:v>179.8</c:v>
                </c:pt>
                <c:pt idx="129">
                  <c:v>157.6</c:v>
                </c:pt>
                <c:pt idx="130">
                  <c:v>179.2</c:v>
                </c:pt>
                <c:pt idx="131">
                  <c:v>166.8</c:v>
                </c:pt>
                <c:pt idx="132">
                  <c:v>163.8</c:v>
                </c:pt>
                <c:pt idx="133">
                  <c:v>169.6</c:v>
                </c:pt>
                <c:pt idx="134">
                  <c:v>153.5</c:v>
                </c:pt>
                <c:pt idx="135">
                  <c:v>165.4</c:v>
                </c:pt>
                <c:pt idx="136">
                  <c:v>156.8</c:v>
                </c:pt>
                <c:pt idx="137">
                  <c:v>153.5</c:v>
                </c:pt>
                <c:pt idx="138">
                  <c:v>166.3</c:v>
                </c:pt>
                <c:pt idx="139">
                  <c:v>149.8</c:v>
                </c:pt>
                <c:pt idx="140">
                  <c:v>151.4</c:v>
                </c:pt>
                <c:pt idx="141">
                  <c:v>152.3</c:v>
                </c:pt>
                <c:pt idx="142">
                  <c:v>141.8</c:v>
                </c:pt>
                <c:pt idx="143">
                  <c:v>137.8</c:v>
                </c:pt>
                <c:pt idx="144">
                  <c:v>151.2</c:v>
                </c:pt>
                <c:pt idx="145">
                  <c:v>139.2</c:v>
                </c:pt>
                <c:pt idx="146">
                  <c:v>147.8</c:v>
                </c:pt>
                <c:pt idx="147">
                  <c:v>170.2</c:v>
                </c:pt>
                <c:pt idx="148">
                  <c:v>153.4</c:v>
                </c:pt>
                <c:pt idx="149">
                  <c:v>163.2</c:v>
                </c:pt>
                <c:pt idx="150">
                  <c:v>157</c:v>
                </c:pt>
                <c:pt idx="151">
                  <c:v>174.1</c:v>
                </c:pt>
                <c:pt idx="152">
                  <c:v>174.7</c:v>
                </c:pt>
                <c:pt idx="153">
                  <c:v>176.8</c:v>
                </c:pt>
                <c:pt idx="154">
                  <c:v>166.5</c:v>
                </c:pt>
                <c:pt idx="155">
                  <c:v>158.7</c:v>
                </c:pt>
                <c:pt idx="156">
                  <c:v>167.5</c:v>
                </c:pt>
                <c:pt idx="157">
                  <c:v>151.6</c:v>
                </c:pt>
                <c:pt idx="158">
                  <c:v>157</c:v>
                </c:pt>
                <c:pt idx="159">
                  <c:v>162.3</c:v>
                </c:pt>
                <c:pt idx="160">
                  <c:v>160.2</c:v>
                </c:pt>
                <c:pt idx="161">
                  <c:v>162.1</c:v>
                </c:pt>
                <c:pt idx="162">
                  <c:v>151.2</c:v>
                </c:pt>
                <c:pt idx="163">
                  <c:v>148</c:v>
                </c:pt>
                <c:pt idx="164">
                  <c:v>155.1</c:v>
                </c:pt>
                <c:pt idx="165">
                  <c:v>127.5</c:v>
                </c:pt>
                <c:pt idx="166">
                  <c:v>142.3</c:v>
                </c:pt>
                <c:pt idx="167">
                  <c:v>136.2</c:v>
                </c:pt>
                <c:pt idx="168">
                  <c:v>145</c:v>
                </c:pt>
                <c:pt idx="169">
                  <c:v>137</c:v>
                </c:pt>
                <c:pt idx="170">
                  <c:v>145.9</c:v>
                </c:pt>
                <c:pt idx="171">
                  <c:v>142.3</c:v>
                </c:pt>
                <c:pt idx="172">
                  <c:v>181.6</c:v>
                </c:pt>
                <c:pt idx="173">
                  <c:v>178</c:v>
                </c:pt>
                <c:pt idx="174">
                  <c:v>161.6</c:v>
                </c:pt>
                <c:pt idx="175">
                  <c:v>156</c:v>
                </c:pt>
                <c:pt idx="176">
                  <c:v>165.3</c:v>
                </c:pt>
                <c:pt idx="177">
                  <c:v>191.1</c:v>
                </c:pt>
                <c:pt idx="178">
                  <c:v>184.2</c:v>
                </c:pt>
                <c:pt idx="179">
                  <c:v>159.1</c:v>
                </c:pt>
                <c:pt idx="180">
                  <c:v>209.8</c:v>
                </c:pt>
                <c:pt idx="181">
                  <c:v>178.3</c:v>
                </c:pt>
                <c:pt idx="182">
                  <c:v>209.5</c:v>
                </c:pt>
                <c:pt idx="183">
                  <c:v>199.1</c:v>
                </c:pt>
                <c:pt idx="184">
                  <c:v>192</c:v>
                </c:pt>
                <c:pt idx="185">
                  <c:v>176.5</c:v>
                </c:pt>
                <c:pt idx="186">
                  <c:v>179.8</c:v>
                </c:pt>
                <c:pt idx="187">
                  <c:v>172.8</c:v>
                </c:pt>
                <c:pt idx="188">
                  <c:v>172.2</c:v>
                </c:pt>
                <c:pt idx="189">
                  <c:v>168.9</c:v>
                </c:pt>
                <c:pt idx="190">
                  <c:v>152.1</c:v>
                </c:pt>
                <c:pt idx="191">
                  <c:v>171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Spike line (180)</c:v>
                </c:pt>
              </c:strCache>
            </c:strRef>
          </c:tx>
          <c:spPr>
            <a:solidFill>
              <a:srgbClr val="7FA99B"/>
            </a:solidFill>
            <a:ln w="31750" cap="flat">
              <a:solidFill>
                <a:srgbClr val="7FA99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A99B"/>
              </a:solidFill>
              <a:ln w="9525" cap="flat">
                <a:solidFill>
                  <a:srgbClr val="7FA9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Sheet1!$A$2:$A$193</c:f>
              <c:multiLvlStrCache>
                <c:ptCount val="192"/>
                <c:lvl>
                  <c:pt idx="0">
                    <c:v>08-19 22:00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 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 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 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08-20 06:00</c:v>
                  </c:pt>
                  <c:pt idx="33">
                    <c:v> </c:v>
                  </c:pt>
                  <c:pt idx="34">
                    <c:v> </c:v>
                  </c:pt>
                  <c:pt idx="35">
                    <c:v> </c:v>
                  </c:pt>
                  <c:pt idx="36">
                    <c:v> 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 </c:v>
                  </c:pt>
                  <c:pt idx="41">
                    <c:v> </c:v>
                  </c:pt>
                  <c:pt idx="42">
                    <c:v> </c:v>
                  </c:pt>
                  <c:pt idx="43">
                    <c:v> </c:v>
                  </c:pt>
                  <c:pt idx="44">
                    <c:v> </c:v>
                  </c:pt>
                  <c:pt idx="45">
                    <c:v> </c:v>
                  </c:pt>
                  <c:pt idx="46">
                    <c:v> </c:v>
                  </c:pt>
                  <c:pt idx="47">
                    <c:v> </c:v>
                  </c:pt>
                  <c:pt idx="48">
                    <c:v> </c:v>
                  </c:pt>
                  <c:pt idx="49">
                    <c:v> </c:v>
                  </c:pt>
                  <c:pt idx="50">
                    <c:v> </c:v>
                  </c:pt>
                  <c:pt idx="51">
                    <c:v> </c:v>
                  </c:pt>
                  <c:pt idx="52">
                    <c:v> </c:v>
                  </c:pt>
                  <c:pt idx="53">
                    <c:v> </c:v>
                  </c:pt>
                  <c:pt idx="54">
                    <c:v> </c:v>
                  </c:pt>
                  <c:pt idx="55">
                    <c:v> </c:v>
                  </c:pt>
                  <c:pt idx="56">
                    <c:v> </c:v>
                  </c:pt>
                  <c:pt idx="57">
                    <c:v> </c:v>
                  </c:pt>
                  <c:pt idx="58">
                    <c:v> </c:v>
                  </c:pt>
                  <c:pt idx="59">
                    <c:v> </c:v>
                  </c:pt>
                  <c:pt idx="60">
                    <c:v> </c:v>
                  </c:pt>
                  <c:pt idx="61">
                    <c:v> </c:v>
                  </c:pt>
                  <c:pt idx="62">
                    <c:v> </c:v>
                  </c:pt>
                  <c:pt idx="63">
                    <c:v> </c:v>
                  </c:pt>
                  <c:pt idx="64">
                    <c:v>08-20 14:00</c:v>
                  </c:pt>
                  <c:pt idx="65">
                    <c:v> </c:v>
                  </c:pt>
                  <c:pt idx="66">
                    <c:v> </c:v>
                  </c:pt>
                  <c:pt idx="67">
                    <c:v> </c:v>
                  </c:pt>
                  <c:pt idx="68">
                    <c:v> </c:v>
                  </c:pt>
                  <c:pt idx="69">
                    <c:v> </c:v>
                  </c:pt>
                  <c:pt idx="70">
                    <c:v> </c:v>
                  </c:pt>
                  <c:pt idx="71">
                    <c:v> </c:v>
                  </c:pt>
                  <c:pt idx="72">
                    <c:v> </c:v>
                  </c:pt>
                  <c:pt idx="73">
                    <c:v> </c:v>
                  </c:pt>
                  <c:pt idx="74">
                    <c:v> </c:v>
                  </c:pt>
                  <c:pt idx="75">
                    <c:v> </c:v>
                  </c:pt>
                  <c:pt idx="76">
                    <c:v> </c:v>
                  </c:pt>
                  <c:pt idx="77">
                    <c:v> </c:v>
                  </c:pt>
                  <c:pt idx="78">
                    <c:v> </c:v>
                  </c:pt>
                  <c:pt idx="79">
                    <c:v> </c:v>
                  </c:pt>
                  <c:pt idx="80">
                    <c:v> </c:v>
                  </c:pt>
                  <c:pt idx="81">
                    <c:v> </c:v>
                  </c:pt>
                  <c:pt idx="82">
                    <c:v> </c:v>
                  </c:pt>
                  <c:pt idx="83">
                    <c:v> </c:v>
                  </c:pt>
                  <c:pt idx="84">
                    <c:v> </c:v>
                  </c:pt>
                  <c:pt idx="85">
                    <c:v> </c:v>
                  </c:pt>
                  <c:pt idx="86">
                    <c:v> </c:v>
                  </c:pt>
                  <c:pt idx="87">
                    <c:v> </c:v>
                  </c:pt>
                  <c:pt idx="88">
                    <c:v> </c:v>
                  </c:pt>
                  <c:pt idx="89">
                    <c:v> </c:v>
                  </c:pt>
                  <c:pt idx="90">
                    <c:v> </c:v>
                  </c:pt>
                  <c:pt idx="91">
                    <c:v> </c:v>
                  </c:pt>
                  <c:pt idx="92">
                    <c:v> </c:v>
                  </c:pt>
                  <c:pt idx="93">
                    <c:v> </c:v>
                  </c:pt>
                  <c:pt idx="94">
                    <c:v> </c:v>
                  </c:pt>
                  <c:pt idx="95">
                    <c:v> </c:v>
                  </c:pt>
                  <c:pt idx="96">
                    <c:v>08-20 22:00</c:v>
                  </c:pt>
                  <c:pt idx="97">
                    <c:v> </c:v>
                  </c:pt>
                  <c:pt idx="98">
                    <c:v> </c:v>
                  </c:pt>
                  <c:pt idx="99">
                    <c:v> </c:v>
                  </c:pt>
                  <c:pt idx="100">
                    <c:v> </c:v>
                  </c:pt>
                  <c:pt idx="101">
                    <c:v> </c:v>
                  </c:pt>
                  <c:pt idx="102">
                    <c:v> </c:v>
                  </c:pt>
                  <c:pt idx="103">
                    <c:v> </c:v>
                  </c:pt>
                  <c:pt idx="104">
                    <c:v> </c:v>
                  </c:pt>
                  <c:pt idx="105">
                    <c:v> </c:v>
                  </c:pt>
                  <c:pt idx="106">
                    <c:v> </c:v>
                  </c:pt>
                  <c:pt idx="107">
                    <c:v> </c:v>
                  </c:pt>
                  <c:pt idx="108">
                    <c:v> </c:v>
                  </c:pt>
                  <c:pt idx="109">
                    <c:v> </c:v>
                  </c:pt>
                  <c:pt idx="110">
                    <c:v> </c:v>
                  </c:pt>
                  <c:pt idx="111">
                    <c:v> </c:v>
                  </c:pt>
                  <c:pt idx="112">
                    <c:v> </c:v>
                  </c:pt>
                  <c:pt idx="113">
                    <c:v> </c:v>
                  </c:pt>
                  <c:pt idx="114">
                    <c:v> </c:v>
                  </c:pt>
                  <c:pt idx="115">
                    <c:v> </c:v>
                  </c:pt>
                  <c:pt idx="116">
                    <c:v> </c:v>
                  </c:pt>
                  <c:pt idx="117">
                    <c:v> </c:v>
                  </c:pt>
                  <c:pt idx="118">
                    <c:v> </c:v>
                  </c:pt>
                  <c:pt idx="119">
                    <c:v> </c:v>
                  </c:pt>
                  <c:pt idx="120">
                    <c:v> </c:v>
                  </c:pt>
                  <c:pt idx="121">
                    <c:v> </c:v>
                  </c:pt>
                  <c:pt idx="122">
                    <c:v> </c:v>
                  </c:pt>
                  <c:pt idx="123">
                    <c:v> </c:v>
                  </c:pt>
                  <c:pt idx="124">
                    <c:v> </c:v>
                  </c:pt>
                  <c:pt idx="125">
                    <c:v> </c:v>
                  </c:pt>
                  <c:pt idx="126">
                    <c:v> </c:v>
                  </c:pt>
                  <c:pt idx="127">
                    <c:v> </c:v>
                  </c:pt>
                  <c:pt idx="128">
                    <c:v>08-21 06:00</c:v>
                  </c:pt>
                  <c:pt idx="129">
                    <c:v> </c:v>
                  </c:pt>
                  <c:pt idx="130">
                    <c:v> </c:v>
                  </c:pt>
                  <c:pt idx="131">
                    <c:v> </c:v>
                  </c:pt>
                  <c:pt idx="132">
                    <c:v> </c:v>
                  </c:pt>
                  <c:pt idx="133">
                    <c:v> </c:v>
                  </c:pt>
                  <c:pt idx="134">
                    <c:v> </c:v>
                  </c:pt>
                  <c:pt idx="135">
                    <c:v> </c:v>
                  </c:pt>
                  <c:pt idx="136">
                    <c:v> </c:v>
                  </c:pt>
                  <c:pt idx="137">
                    <c:v> </c:v>
                  </c:pt>
                  <c:pt idx="138">
                    <c:v> </c:v>
                  </c:pt>
                  <c:pt idx="139">
                    <c:v> </c:v>
                  </c:pt>
                  <c:pt idx="140">
                    <c:v> </c:v>
                  </c:pt>
                  <c:pt idx="141">
                    <c:v> </c:v>
                  </c:pt>
                  <c:pt idx="142">
                    <c:v> </c:v>
                  </c:pt>
                  <c:pt idx="143">
                    <c:v> </c:v>
                  </c:pt>
                  <c:pt idx="144">
                    <c:v> </c:v>
                  </c:pt>
                  <c:pt idx="145">
                    <c:v> </c:v>
                  </c:pt>
                  <c:pt idx="146">
                    <c:v> </c:v>
                  </c:pt>
                  <c:pt idx="147">
                    <c:v> </c:v>
                  </c:pt>
                  <c:pt idx="148">
                    <c:v> </c:v>
                  </c:pt>
                  <c:pt idx="149">
                    <c:v> </c:v>
                  </c:pt>
                  <c:pt idx="150">
                    <c:v> </c:v>
                  </c:pt>
                  <c:pt idx="151">
                    <c:v> </c:v>
                  </c:pt>
                  <c:pt idx="152">
                    <c:v> </c:v>
                  </c:pt>
                  <c:pt idx="153">
                    <c:v> </c:v>
                  </c:pt>
                  <c:pt idx="154">
                    <c:v> </c:v>
                  </c:pt>
                  <c:pt idx="155">
                    <c:v> </c:v>
                  </c:pt>
                  <c:pt idx="156">
                    <c:v> </c:v>
                  </c:pt>
                  <c:pt idx="157">
                    <c:v> </c:v>
                  </c:pt>
                  <c:pt idx="158">
                    <c:v> </c:v>
                  </c:pt>
                  <c:pt idx="159">
                    <c:v> </c:v>
                  </c:pt>
                  <c:pt idx="160">
                    <c:v>08-21 14:00</c:v>
                  </c:pt>
                  <c:pt idx="161">
                    <c:v> </c:v>
                  </c:pt>
                  <c:pt idx="162">
                    <c:v> </c:v>
                  </c:pt>
                  <c:pt idx="163">
                    <c:v> </c:v>
                  </c:pt>
                  <c:pt idx="164">
                    <c:v> </c:v>
                  </c:pt>
                  <c:pt idx="165">
                    <c:v> </c:v>
                  </c:pt>
                  <c:pt idx="166">
                    <c:v> </c:v>
                  </c:pt>
                  <c:pt idx="167">
                    <c:v> </c:v>
                  </c:pt>
                  <c:pt idx="168">
                    <c:v> </c:v>
                  </c:pt>
                  <c:pt idx="169">
                    <c:v> </c:v>
                  </c:pt>
                  <c:pt idx="170">
                    <c:v> </c:v>
                  </c:pt>
                  <c:pt idx="171">
                    <c:v> </c:v>
                  </c:pt>
                  <c:pt idx="172">
                    <c:v> </c:v>
                  </c:pt>
                  <c:pt idx="173">
                    <c:v> </c:v>
                  </c:pt>
                  <c:pt idx="174">
                    <c:v> </c:v>
                  </c:pt>
                  <c:pt idx="175">
                    <c:v> </c:v>
                  </c:pt>
                  <c:pt idx="176">
                    <c:v> </c:v>
                  </c:pt>
                  <c:pt idx="177">
                    <c:v> </c:v>
                  </c:pt>
                  <c:pt idx="178">
                    <c:v> </c:v>
                  </c:pt>
                  <c:pt idx="179">
                    <c:v> </c:v>
                  </c:pt>
                  <c:pt idx="180">
                    <c:v> </c:v>
                  </c:pt>
                  <c:pt idx="181">
                    <c:v> </c:v>
                  </c:pt>
                  <c:pt idx="182">
                    <c:v> </c:v>
                  </c:pt>
                  <c:pt idx="183">
                    <c:v> </c:v>
                  </c:pt>
                  <c:pt idx="184">
                    <c:v> </c:v>
                  </c:pt>
                  <c:pt idx="185">
                    <c:v> </c:v>
                  </c:pt>
                  <c:pt idx="186">
                    <c:v> </c:v>
                  </c:pt>
                  <c:pt idx="187">
                    <c:v> </c:v>
                  </c:pt>
                  <c:pt idx="188">
                    <c:v> </c:v>
                  </c:pt>
                  <c:pt idx="189">
                    <c:v> </c:v>
                  </c:pt>
                  <c:pt idx="190">
                    <c:v> </c:v>
                  </c:pt>
                  <c:pt idx="191">
                    <c:v> </c:v>
                  </c:pt>
                </c:lvl>
              </c:multiLvlStrCache>
            </c:multiLvlStrRef>
          </c:cat>
          <c:val>
            <c:numRef>
              <c:f>Sheet1!$C$2:$C$193</c:f>
              <c:numCache>
                <c:formatCode>General</c:formatCode>
                <c:ptCount val="192"/>
                <c:pt idx="0">
                  <c:v>180</c:v>
                </c:pt>
                <c:pt idx="1">
                  <c:v>180</c:v>
                </c:pt>
                <c:pt idx="2">
                  <c:v>180</c:v>
                </c:pt>
                <c:pt idx="3">
                  <c:v>180</c:v>
                </c:pt>
                <c:pt idx="4">
                  <c:v>180</c:v>
                </c:pt>
                <c:pt idx="5">
                  <c:v>180</c:v>
                </c:pt>
                <c:pt idx="6">
                  <c:v>180</c:v>
                </c:pt>
                <c:pt idx="7">
                  <c:v>180</c:v>
                </c:pt>
                <c:pt idx="8">
                  <c:v>180</c:v>
                </c:pt>
                <c:pt idx="9">
                  <c:v>180</c:v>
                </c:pt>
                <c:pt idx="10">
                  <c:v>180</c:v>
                </c:pt>
                <c:pt idx="11">
                  <c:v>180</c:v>
                </c:pt>
                <c:pt idx="12">
                  <c:v>180</c:v>
                </c:pt>
                <c:pt idx="13">
                  <c:v>180</c:v>
                </c:pt>
                <c:pt idx="14">
                  <c:v>180</c:v>
                </c:pt>
                <c:pt idx="15">
                  <c:v>180</c:v>
                </c:pt>
                <c:pt idx="16">
                  <c:v>180</c:v>
                </c:pt>
                <c:pt idx="17">
                  <c:v>180</c:v>
                </c:pt>
                <c:pt idx="18">
                  <c:v>180</c:v>
                </c:pt>
                <c:pt idx="19">
                  <c:v>180</c:v>
                </c:pt>
                <c:pt idx="20">
                  <c:v>180</c:v>
                </c:pt>
                <c:pt idx="21">
                  <c:v>180</c:v>
                </c:pt>
                <c:pt idx="22">
                  <c:v>180</c:v>
                </c:pt>
                <c:pt idx="23">
                  <c:v>180</c:v>
                </c:pt>
                <c:pt idx="24">
                  <c:v>180</c:v>
                </c:pt>
                <c:pt idx="25">
                  <c:v>180</c:v>
                </c:pt>
                <c:pt idx="26">
                  <c:v>180</c:v>
                </c:pt>
                <c:pt idx="27">
                  <c:v>180</c:v>
                </c:pt>
                <c:pt idx="28">
                  <c:v>180</c:v>
                </c:pt>
                <c:pt idx="29">
                  <c:v>180</c:v>
                </c:pt>
                <c:pt idx="30">
                  <c:v>180</c:v>
                </c:pt>
                <c:pt idx="31">
                  <c:v>180</c:v>
                </c:pt>
                <c:pt idx="32">
                  <c:v>180</c:v>
                </c:pt>
                <c:pt idx="33">
                  <c:v>180</c:v>
                </c:pt>
                <c:pt idx="34">
                  <c:v>180</c:v>
                </c:pt>
                <c:pt idx="35">
                  <c:v>180</c:v>
                </c:pt>
                <c:pt idx="36">
                  <c:v>180</c:v>
                </c:pt>
                <c:pt idx="37">
                  <c:v>180</c:v>
                </c:pt>
                <c:pt idx="38">
                  <c:v>180</c:v>
                </c:pt>
                <c:pt idx="39">
                  <c:v>180</c:v>
                </c:pt>
                <c:pt idx="40">
                  <c:v>180</c:v>
                </c:pt>
                <c:pt idx="41">
                  <c:v>180</c:v>
                </c:pt>
                <c:pt idx="42">
                  <c:v>180</c:v>
                </c:pt>
                <c:pt idx="43">
                  <c:v>180</c:v>
                </c:pt>
                <c:pt idx="44">
                  <c:v>180</c:v>
                </c:pt>
                <c:pt idx="45">
                  <c:v>180</c:v>
                </c:pt>
                <c:pt idx="46">
                  <c:v>180</c:v>
                </c:pt>
                <c:pt idx="47">
                  <c:v>180</c:v>
                </c:pt>
                <c:pt idx="48">
                  <c:v>180</c:v>
                </c:pt>
                <c:pt idx="49">
                  <c:v>180</c:v>
                </c:pt>
                <c:pt idx="50">
                  <c:v>180</c:v>
                </c:pt>
                <c:pt idx="51">
                  <c:v>180</c:v>
                </c:pt>
                <c:pt idx="52">
                  <c:v>180</c:v>
                </c:pt>
                <c:pt idx="53">
                  <c:v>180</c:v>
                </c:pt>
                <c:pt idx="54">
                  <c:v>180</c:v>
                </c:pt>
                <c:pt idx="55">
                  <c:v>180</c:v>
                </c:pt>
                <c:pt idx="56">
                  <c:v>180</c:v>
                </c:pt>
                <c:pt idx="57">
                  <c:v>180</c:v>
                </c:pt>
                <c:pt idx="58">
                  <c:v>180</c:v>
                </c:pt>
                <c:pt idx="59">
                  <c:v>180</c:v>
                </c:pt>
                <c:pt idx="60">
                  <c:v>180</c:v>
                </c:pt>
                <c:pt idx="61">
                  <c:v>180</c:v>
                </c:pt>
                <c:pt idx="62">
                  <c:v>180</c:v>
                </c:pt>
                <c:pt idx="63">
                  <c:v>180</c:v>
                </c:pt>
                <c:pt idx="64">
                  <c:v>180</c:v>
                </c:pt>
                <c:pt idx="65">
                  <c:v>180</c:v>
                </c:pt>
                <c:pt idx="66">
                  <c:v>180</c:v>
                </c:pt>
                <c:pt idx="67">
                  <c:v>180</c:v>
                </c:pt>
                <c:pt idx="68">
                  <c:v>180</c:v>
                </c:pt>
                <c:pt idx="69">
                  <c:v>180</c:v>
                </c:pt>
                <c:pt idx="70">
                  <c:v>180</c:v>
                </c:pt>
                <c:pt idx="71">
                  <c:v>180</c:v>
                </c:pt>
                <c:pt idx="72">
                  <c:v>180</c:v>
                </c:pt>
                <c:pt idx="73">
                  <c:v>180</c:v>
                </c:pt>
                <c:pt idx="74">
                  <c:v>180</c:v>
                </c:pt>
                <c:pt idx="75">
                  <c:v>180</c:v>
                </c:pt>
                <c:pt idx="76">
                  <c:v>180</c:v>
                </c:pt>
                <c:pt idx="77">
                  <c:v>180</c:v>
                </c:pt>
                <c:pt idx="78">
                  <c:v>180</c:v>
                </c:pt>
                <c:pt idx="79">
                  <c:v>180</c:v>
                </c:pt>
                <c:pt idx="80">
                  <c:v>180</c:v>
                </c:pt>
                <c:pt idx="81">
                  <c:v>180</c:v>
                </c:pt>
                <c:pt idx="82">
                  <c:v>180</c:v>
                </c:pt>
                <c:pt idx="83">
                  <c:v>180</c:v>
                </c:pt>
                <c:pt idx="84">
                  <c:v>180</c:v>
                </c:pt>
                <c:pt idx="85">
                  <c:v>180</c:v>
                </c:pt>
                <c:pt idx="86">
                  <c:v>180</c:v>
                </c:pt>
                <c:pt idx="87">
                  <c:v>180</c:v>
                </c:pt>
                <c:pt idx="88">
                  <c:v>180</c:v>
                </c:pt>
                <c:pt idx="89">
                  <c:v>180</c:v>
                </c:pt>
                <c:pt idx="90">
                  <c:v>180</c:v>
                </c:pt>
                <c:pt idx="91">
                  <c:v>180</c:v>
                </c:pt>
                <c:pt idx="92">
                  <c:v>180</c:v>
                </c:pt>
                <c:pt idx="93">
                  <c:v>180</c:v>
                </c:pt>
                <c:pt idx="94">
                  <c:v>180</c:v>
                </c:pt>
                <c:pt idx="95">
                  <c:v>180</c:v>
                </c:pt>
                <c:pt idx="96">
                  <c:v>180</c:v>
                </c:pt>
                <c:pt idx="97">
                  <c:v>180</c:v>
                </c:pt>
                <c:pt idx="98">
                  <c:v>180</c:v>
                </c:pt>
                <c:pt idx="99">
                  <c:v>180</c:v>
                </c:pt>
                <c:pt idx="100">
                  <c:v>180</c:v>
                </c:pt>
                <c:pt idx="101">
                  <c:v>180</c:v>
                </c:pt>
                <c:pt idx="102">
                  <c:v>180</c:v>
                </c:pt>
                <c:pt idx="103">
                  <c:v>180</c:v>
                </c:pt>
                <c:pt idx="104">
                  <c:v>180</c:v>
                </c:pt>
                <c:pt idx="105">
                  <c:v>180</c:v>
                </c:pt>
                <c:pt idx="106">
                  <c:v>180</c:v>
                </c:pt>
                <c:pt idx="107">
                  <c:v>180</c:v>
                </c:pt>
                <c:pt idx="108">
                  <c:v>180</c:v>
                </c:pt>
                <c:pt idx="109">
                  <c:v>180</c:v>
                </c:pt>
                <c:pt idx="110">
                  <c:v>180</c:v>
                </c:pt>
                <c:pt idx="111">
                  <c:v>180</c:v>
                </c:pt>
                <c:pt idx="112">
                  <c:v>180</c:v>
                </c:pt>
                <c:pt idx="113">
                  <c:v>180</c:v>
                </c:pt>
                <c:pt idx="114">
                  <c:v>180</c:v>
                </c:pt>
                <c:pt idx="115">
                  <c:v>180</c:v>
                </c:pt>
                <c:pt idx="116">
                  <c:v>180</c:v>
                </c:pt>
                <c:pt idx="117">
                  <c:v>180</c:v>
                </c:pt>
                <c:pt idx="118">
                  <c:v>180</c:v>
                </c:pt>
                <c:pt idx="119">
                  <c:v>180</c:v>
                </c:pt>
                <c:pt idx="120">
                  <c:v>180</c:v>
                </c:pt>
                <c:pt idx="121">
                  <c:v>180</c:v>
                </c:pt>
                <c:pt idx="122">
                  <c:v>180</c:v>
                </c:pt>
                <c:pt idx="123">
                  <c:v>180</c:v>
                </c:pt>
                <c:pt idx="124">
                  <c:v>180</c:v>
                </c:pt>
                <c:pt idx="125">
                  <c:v>180</c:v>
                </c:pt>
                <c:pt idx="126">
                  <c:v>180</c:v>
                </c:pt>
                <c:pt idx="127">
                  <c:v>180</c:v>
                </c:pt>
                <c:pt idx="128">
                  <c:v>180</c:v>
                </c:pt>
                <c:pt idx="129">
                  <c:v>180</c:v>
                </c:pt>
                <c:pt idx="130">
                  <c:v>180</c:v>
                </c:pt>
                <c:pt idx="131">
                  <c:v>180</c:v>
                </c:pt>
                <c:pt idx="132">
                  <c:v>180</c:v>
                </c:pt>
                <c:pt idx="133">
                  <c:v>180</c:v>
                </c:pt>
                <c:pt idx="134">
                  <c:v>180</c:v>
                </c:pt>
                <c:pt idx="135">
                  <c:v>180</c:v>
                </c:pt>
                <c:pt idx="136">
                  <c:v>180</c:v>
                </c:pt>
                <c:pt idx="137">
                  <c:v>180</c:v>
                </c:pt>
                <c:pt idx="138">
                  <c:v>180</c:v>
                </c:pt>
                <c:pt idx="139">
                  <c:v>180</c:v>
                </c:pt>
                <c:pt idx="140">
                  <c:v>180</c:v>
                </c:pt>
                <c:pt idx="141">
                  <c:v>180</c:v>
                </c:pt>
                <c:pt idx="142">
                  <c:v>180</c:v>
                </c:pt>
                <c:pt idx="143">
                  <c:v>180</c:v>
                </c:pt>
                <c:pt idx="144">
                  <c:v>180</c:v>
                </c:pt>
                <c:pt idx="145">
                  <c:v>180</c:v>
                </c:pt>
                <c:pt idx="146">
                  <c:v>180</c:v>
                </c:pt>
                <c:pt idx="147">
                  <c:v>180</c:v>
                </c:pt>
                <c:pt idx="148">
                  <c:v>180</c:v>
                </c:pt>
                <c:pt idx="149">
                  <c:v>180</c:v>
                </c:pt>
                <c:pt idx="150">
                  <c:v>180</c:v>
                </c:pt>
                <c:pt idx="151">
                  <c:v>180</c:v>
                </c:pt>
                <c:pt idx="152">
                  <c:v>180</c:v>
                </c:pt>
                <c:pt idx="153">
                  <c:v>180</c:v>
                </c:pt>
                <c:pt idx="154">
                  <c:v>180</c:v>
                </c:pt>
                <c:pt idx="155">
                  <c:v>180</c:v>
                </c:pt>
                <c:pt idx="156">
                  <c:v>180</c:v>
                </c:pt>
                <c:pt idx="157">
                  <c:v>180</c:v>
                </c:pt>
                <c:pt idx="158">
                  <c:v>180</c:v>
                </c:pt>
                <c:pt idx="159">
                  <c:v>180</c:v>
                </c:pt>
                <c:pt idx="160">
                  <c:v>180</c:v>
                </c:pt>
                <c:pt idx="161">
                  <c:v>180</c:v>
                </c:pt>
                <c:pt idx="162">
                  <c:v>180</c:v>
                </c:pt>
                <c:pt idx="163">
                  <c:v>180</c:v>
                </c:pt>
                <c:pt idx="164">
                  <c:v>180</c:v>
                </c:pt>
                <c:pt idx="165">
                  <c:v>180</c:v>
                </c:pt>
                <c:pt idx="166">
                  <c:v>180</c:v>
                </c:pt>
                <c:pt idx="167">
                  <c:v>180</c:v>
                </c:pt>
                <c:pt idx="168">
                  <c:v>180</c:v>
                </c:pt>
                <c:pt idx="169">
                  <c:v>180</c:v>
                </c:pt>
                <c:pt idx="170">
                  <c:v>180</c:v>
                </c:pt>
                <c:pt idx="171">
                  <c:v>180</c:v>
                </c:pt>
                <c:pt idx="172">
                  <c:v>180</c:v>
                </c:pt>
                <c:pt idx="173">
                  <c:v>180</c:v>
                </c:pt>
                <c:pt idx="174">
                  <c:v>180</c:v>
                </c:pt>
                <c:pt idx="175">
                  <c:v>180</c:v>
                </c:pt>
                <c:pt idx="176">
                  <c:v>180</c:v>
                </c:pt>
                <c:pt idx="177">
                  <c:v>180</c:v>
                </c:pt>
                <c:pt idx="178">
                  <c:v>180</c:v>
                </c:pt>
                <c:pt idx="179">
                  <c:v>180</c:v>
                </c:pt>
                <c:pt idx="180">
                  <c:v>180</c:v>
                </c:pt>
                <c:pt idx="181">
                  <c:v>180</c:v>
                </c:pt>
                <c:pt idx="182">
                  <c:v>180</c:v>
                </c:pt>
                <c:pt idx="183">
                  <c:v>180</c:v>
                </c:pt>
                <c:pt idx="184">
                  <c:v>180</c:v>
                </c:pt>
                <c:pt idx="185">
                  <c:v>180</c:v>
                </c:pt>
                <c:pt idx="186">
                  <c:v>180</c:v>
                </c:pt>
                <c:pt idx="187">
                  <c:v>180</c:v>
                </c:pt>
                <c:pt idx="188">
                  <c:v>180</c:v>
                </c:pt>
                <c:pt idx="189">
                  <c:v>180</c:v>
                </c:pt>
                <c:pt idx="190">
                  <c:v>180</c:v>
                </c:pt>
                <c:pt idx="191">
                  <c:v>180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C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2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E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C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A2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56692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5486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Digital Twin PoC  |  Predictive glucose-spike alert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Digital Twin PoC  |  Predictive glucose-spike alert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 digital twin that warns of glucose spikes early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Phase-1 proof of concept: clinic records plus wearable data, two hours of notice. Built for the Happiest Health Digital Twin Challenge.</a:t>
            </a:r>
            <a:endParaRPr lang="en-US" sz="1800" dirty="0"/>
          </a:p>
        </p:txBody>
      </p:sp>
      <p:pic>
        <p:nvPicPr>
          <p:cNvPr id="4" name="Image 0" descr="48-hour glucose trace of a demo patient with the 180 mg/dL line and an alert ma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25880"/>
            <a:ext cx="4937760" cy="3246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675120" y="4754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One demo patient, 48 hours of glucose. Dashed line = 180 mg/dL. Yellow ring = model alert. Synthetic data.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Join who the patient is with what is happening now</a:t>
            </a:r>
            <a:endParaRPr lang="en-US" sz="3400" dirty="0"/>
          </a:p>
        </p:txBody>
      </p:sp>
      <p:sp>
        <p:nvSpPr>
          <p:cNvPr id="3" name="card Clinic record (EHR)"/>
          <p:cNvSpPr/>
          <p:nvPr/>
        </p:nvSpPr>
        <p:spPr>
          <a:xfrm>
            <a:off x="548640" y="160020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4" name="Clinic record (EHR)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Clinic record (EHR)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1259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 record (EHR)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4290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Who the patient is: age, BMI, HbA1c, kidney function, genetic risk markers</a:t>
            </a:r>
            <a:endParaRPr lang="en-US" sz="1600" dirty="0"/>
          </a:p>
        </p:txBody>
      </p:sp>
      <p:sp>
        <p:nvSpPr>
          <p:cNvPr id="8" name="card Wearable stream"/>
          <p:cNvSpPr/>
          <p:nvPr/>
        </p:nvSpPr>
        <p:spPr>
          <a:xfrm>
            <a:off x="4343400" y="160020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9" name="Wearable stream"/>
          <p:cNvSpPr/>
          <p:nvPr/>
        </p:nvSpPr>
        <p:spPr>
          <a:xfrm>
            <a:off x="4663440" y="19202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Wearable stream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1259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Wearable stream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4290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happening now: glucose, heart rate, heart-rate variability, sleep, steps</a:t>
            </a:r>
            <a:endParaRPr lang="en-US" sz="1600" dirty="0"/>
          </a:p>
        </p:txBody>
      </p:sp>
      <p:sp>
        <p:nvSpPr>
          <p:cNvPr id="13" name="card Early warning"/>
          <p:cNvSpPr/>
          <p:nvPr/>
        </p:nvSpPr>
        <p:spPr>
          <a:xfrm>
            <a:off x="8138160" y="1600200"/>
            <a:ext cx="34747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14" name="Early warning"/>
          <p:cNvSpPr/>
          <p:nvPr/>
        </p:nvSpPr>
        <p:spPr>
          <a:xfrm>
            <a:off x="8458200" y="19202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Early warnin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0" y="21259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34290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alert about 2 hours before glucose goes above 180 or climbs fast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977640" y="2743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+</a:t>
            </a:r>
            <a:endParaRPr lang="en-US" sz="32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0" y="2743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=</a:t>
            </a:r>
            <a:endParaRPr lang="en-US" sz="32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5"/>
                </a:solidFill>
              </a:rPr>
              <a:t>The twin is a model of one patient that updates with every new reading and forecasts what comes next.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the project works, from raw data to dashboard</a:t>
            </a:r>
            <a:endParaRPr lang="en-US" sz="3400" dirty="0"/>
          </a:p>
        </p:txBody>
      </p:sp>
      <p:sp>
        <p:nvSpPr>
          <p:cNvPr id="3" name="step Generate data"/>
          <p:cNvSpPr/>
          <p:nvPr/>
        </p:nvSpPr>
        <p:spPr>
          <a:xfrm>
            <a:off x="548640" y="1645920"/>
            <a:ext cx="2048256" cy="37490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4" name="step 1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data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Synthetic clinic records and wearable streams for 500 patients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000" dirty="0"/>
          </a:p>
        </p:txBody>
      </p:sp>
      <p:sp>
        <p:nvSpPr>
          <p:cNvPr id="9" name="step Build features"/>
          <p:cNvSpPr/>
          <p:nvPr/>
        </p:nvSpPr>
        <p:spPr>
          <a:xfrm>
            <a:off x="2798064" y="1645920"/>
            <a:ext cx="2048256" cy="37490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10" name="step 2"/>
          <p:cNvSpPr/>
          <p:nvPr/>
        </p:nvSpPr>
        <p:spPr>
          <a:xfrm>
            <a:off x="3026664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2666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26664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features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26664" y="3200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Trailing windows only, so nothing from the future leaks in. Label: spike in next 2 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26664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feature_engineering</a:t>
            </a:r>
            <a:endParaRPr lang="en-US" sz="1000" dirty="0"/>
          </a:p>
        </p:txBody>
      </p:sp>
      <p:sp>
        <p:nvSpPr>
          <p:cNvPr id="15" name="step Train and test"/>
          <p:cNvSpPr/>
          <p:nvPr/>
        </p:nvSpPr>
        <p:spPr>
          <a:xfrm>
            <a:off x="5047488" y="1645920"/>
            <a:ext cx="2048256" cy="37490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16" name="step 3"/>
          <p:cNvSpPr/>
          <p:nvPr/>
        </p:nvSpPr>
        <p:spPr>
          <a:xfrm>
            <a:off x="5276088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7608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276088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and test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76088" y="3200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Gradient-boosted model, scored with patient-grouped cross-validation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76088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train_model</a:t>
            </a:r>
            <a:endParaRPr lang="en-US" sz="1000" dirty="0"/>
          </a:p>
        </p:txBody>
      </p:sp>
      <p:sp>
        <p:nvSpPr>
          <p:cNvPr id="21" name="step Export results"/>
          <p:cNvSpPr/>
          <p:nvPr/>
        </p:nvSpPr>
        <p:spPr>
          <a:xfrm>
            <a:off x="7296912" y="1645920"/>
            <a:ext cx="2048256" cy="37490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22" name="step 4"/>
          <p:cNvSpPr/>
          <p:nvPr/>
        </p:nvSpPr>
        <p:spPr>
          <a:xfrm>
            <a:off x="7525512" y="1874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2551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525512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results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525512" y="3200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Risk scores, alerts and explanations for six demo patients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525512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export_dashboard_data</a:t>
            </a:r>
            <a:endParaRPr lang="en-US" sz="1000" dirty="0"/>
          </a:p>
        </p:txBody>
      </p:sp>
      <p:sp>
        <p:nvSpPr>
          <p:cNvPr id="27" name="step Console"/>
          <p:cNvSpPr/>
          <p:nvPr/>
        </p:nvSpPr>
        <p:spPr>
          <a:xfrm>
            <a:off x="9546336" y="1645920"/>
            <a:ext cx="2048256" cy="374904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28" name="step 5"/>
          <p:cNvSpPr/>
          <p:nvPr/>
        </p:nvSpPr>
        <p:spPr>
          <a:xfrm>
            <a:off x="9774936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77493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774936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774936" y="32004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Offline web dashboard that shows roster, streams and alerts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774936" y="4846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Every number in the repo's reports is generated from one metrics file, never typed by hand.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the model sees, and what counts as a spike</a:t>
            </a:r>
            <a:endParaRPr lang="en-US" sz="3400" dirty="0"/>
          </a:p>
        </p:txBody>
      </p:sp>
      <p:sp>
        <p:nvSpPr>
          <p:cNvPr id="3" name="stat 500"/>
          <p:cNvSpPr/>
          <p:nvPr/>
        </p:nvSpPr>
        <p:spPr>
          <a:xfrm>
            <a:off x="548640" y="160020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14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virtual patients</a:t>
            </a:r>
            <a:endParaRPr lang="en-US" sz="1400" dirty="0"/>
          </a:p>
        </p:txBody>
      </p:sp>
      <p:sp>
        <p:nvSpPr>
          <p:cNvPr id="6" name="stat 21 days"/>
          <p:cNvSpPr/>
          <p:nvPr/>
        </p:nvSpPr>
        <p:spPr>
          <a:xfrm>
            <a:off x="3291840" y="160020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days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514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readings each, every 15 minutes</a:t>
            </a:r>
            <a:endParaRPr lang="en-US" sz="1400" dirty="0"/>
          </a:p>
        </p:txBody>
      </p:sp>
      <p:sp>
        <p:nvSpPr>
          <p:cNvPr id="9" name="stat 1.0 M"/>
          <p:cNvSpPr/>
          <p:nvPr/>
        </p:nvSpPr>
        <p:spPr>
          <a:xfrm>
            <a:off x="548640" y="356616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 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patient-moments (rows) to learn from</a:t>
            </a:r>
            <a:endParaRPr lang="en-US" sz="1400" dirty="0"/>
          </a:p>
        </p:txBody>
      </p:sp>
      <p:sp>
        <p:nvSpPr>
          <p:cNvPr id="12" name="stat 1.8%"/>
          <p:cNvSpPr/>
          <p:nvPr/>
        </p:nvSpPr>
        <p:spPr>
          <a:xfrm>
            <a:off x="3291840" y="3566160"/>
            <a:ext cx="25146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2044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moments are followed by a spike</a:t>
            </a:r>
            <a:endParaRPr lang="en-US" sz="1400" dirty="0"/>
          </a:p>
        </p:txBody>
      </p:sp>
      <p:sp>
        <p:nvSpPr>
          <p:cNvPr id="15" name="label panel"/>
          <p:cNvSpPr/>
          <p:nvPr/>
        </p:nvSpPr>
        <p:spPr>
          <a:xfrm>
            <a:off x="6309360" y="1600200"/>
            <a:ext cx="5303520" cy="3703320"/>
          </a:xfrm>
          <a:prstGeom prst="roundRect">
            <a:avLst>
              <a:gd name="adj" fmla="val 2963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spike means, within the next 2 hours: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23774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30-minute smoothed glucose passes 180 mg/dL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or it rises by 30 mg/dL or more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Smoothing matters: an earlier version fired on sensor noise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Inputs: 12 clinic fields and 5 wearable signals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One model, tested the hard way</a:t>
            </a:r>
            <a:endParaRPr lang="en-US" sz="3400" dirty="0"/>
          </a:p>
        </p:txBody>
      </p:sp>
      <p:sp>
        <p:nvSpPr>
          <p:cNvPr id="3" name="model card"/>
          <p:cNvSpPr/>
          <p:nvPr/>
        </p:nvSpPr>
        <p:spPr>
          <a:xfrm>
            <a:off x="548640" y="1600200"/>
            <a:ext cx="4754880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4" name="model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mode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57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2011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9260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Gradient-boosted decision trees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Learns from the clinic record and the live signals together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settings reused for a second, week-ahead heart-strain target</a:t>
            </a:r>
            <a:endParaRPr lang="en-US" sz="1600" dirty="0"/>
          </a:p>
        </p:txBody>
      </p:sp>
      <p:sp>
        <p:nvSpPr>
          <p:cNvPr id="8" name="testing card"/>
          <p:cNvSpPr/>
          <p:nvPr/>
        </p:nvSpPr>
        <p:spPr>
          <a:xfrm>
            <a:off x="5577840" y="1600200"/>
            <a:ext cx="6035040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9" name="testing"/>
          <p:cNvSpPr/>
          <p:nvPr/>
        </p:nvSpPr>
        <p:spPr>
          <a:xfrm>
            <a:off x="5897880" y="1874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test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574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122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testing rules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5897880" y="292608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patient's rows are never in both train and test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Five repeated splits, 25% of patients held out each time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Significance judged across patients, not across folds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claim paired with a control that could disprove 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Headline: a useful signal, and an honest number</a:t>
            </a:r>
            <a:endParaRPr lang="en-US" sz="3400" dirty="0"/>
          </a:p>
        </p:txBody>
      </p:sp>
      <p:sp>
        <p:nvSpPr>
          <p:cNvPr id="3" name="headline 0.843"/>
          <p:cNvSpPr/>
          <p:nvPr/>
        </p:nvSpPr>
        <p:spPr>
          <a:xfrm>
            <a:off x="548640" y="160020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0.843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ROC-AUC, averaged over five independent data draws (plus or minus 0.021)</a:t>
            </a:r>
            <a:endParaRPr lang="en-US" sz="1600" dirty="0"/>
          </a:p>
        </p:txBody>
      </p:sp>
      <p:sp>
        <p:nvSpPr>
          <p:cNvPr id="6" name="headline ~1 a day"/>
          <p:cNvSpPr/>
          <p:nvPr/>
        </p:nvSpPr>
        <p:spPr>
          <a:xfrm>
            <a:off x="4343400" y="160020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1772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a day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926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alerts per patient when the alert budget is set to 1% of moments</a:t>
            </a:r>
            <a:endParaRPr lang="en-US" sz="1600" dirty="0"/>
          </a:p>
        </p:txBody>
      </p:sp>
      <p:sp>
        <p:nvSpPr>
          <p:cNvPr id="9" name="headline 4 in 10"/>
          <p:cNvSpPr/>
          <p:nvPr/>
        </p:nvSpPr>
        <p:spPr>
          <a:xfrm>
            <a:off x="8138160" y="1600200"/>
            <a:ext cx="347472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in 10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926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those alerts are real spikes (precision 0.41), about 14x better than chance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This is the average, not the best run. The shipped model scored 0.876, which was the luckiest of the five draws, and we say so.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Wearable signals are what lift the score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08760"/>
          <a:ext cx="62179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 takeaways"/>
          <p:cNvSpPr/>
          <p:nvPr/>
        </p:nvSpPr>
        <p:spPr>
          <a:xfrm>
            <a:off x="7132320" y="1600200"/>
            <a:ext cx="448056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406640" y="182880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Shortcut control = clock + current glucose + trend + baseline labs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Full model beats it by +0.022 (p &lt; 0.001)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Heart-rate variability, sleep and activity give +0.017 of that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gain holds in all 5 data draws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Chart shows the shipped data draw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the model leans on most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08760"/>
          <a:ext cx="6400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eature takeaways"/>
          <p:cNvSpPr/>
          <p:nvPr/>
        </p:nvSpPr>
        <p:spPr>
          <a:xfrm>
            <a:off x="7223760" y="1600200"/>
            <a:ext cx="438912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498080" y="182880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About two-thirds of the weight sits on live wearable signals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Heart-rate variability (HRV) is the single top signal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Time of day is down from 29% in v2 to 15%, no longer the main shortcut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Clinic fields like age and HbA1c still add a steady base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We tried to break our own result</a:t>
            </a:r>
            <a:endParaRPr lang="en-US" sz="3400" dirty="0"/>
          </a:p>
        </p:txBody>
      </p:sp>
      <p:sp>
        <p:nvSpPr>
          <p:cNvPr id="3" name="check Shuffled labels"/>
          <p:cNvSpPr/>
          <p:nvPr/>
        </p:nvSpPr>
        <p:spPr>
          <a:xfrm>
            <a:off x="548640" y="1600200"/>
            <a:ext cx="3474720" cy="38404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Shuffled labels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Shuffled label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0002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0.495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Shuffled labels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Scrambling who spiked drops the score to a coin flip, so the pipeline is not leaking answers.</a:t>
            </a:r>
            <a:endParaRPr lang="en-US" sz="1400" dirty="0"/>
          </a:p>
        </p:txBody>
      </p:sp>
      <p:sp>
        <p:nvSpPr>
          <p:cNvPr id="9" name="check Same patient, shuffled timing"/>
          <p:cNvSpPr/>
          <p:nvPr/>
        </p:nvSpPr>
        <p:spPr>
          <a:xfrm>
            <a:off x="4343400" y="1600200"/>
            <a:ext cx="3474720" cy="38404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0" name="Same patient, shuffled timing"/>
          <p:cNvSpPr/>
          <p:nvPr/>
        </p:nvSpPr>
        <p:spPr>
          <a:xfrm>
            <a:off x="461772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Same patient, shuffled timin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170" y="200025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0.802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Same patient, shuffled timing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9776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Knowing who the patient is gives most of the score. Their current state adds about +0.06 on top.</a:t>
            </a:r>
            <a:endParaRPr lang="en-US" sz="1400" dirty="0"/>
          </a:p>
        </p:txBody>
      </p:sp>
      <p:sp>
        <p:nvSpPr>
          <p:cNvPr id="15" name="check Five data draws"/>
          <p:cNvSpPr/>
          <p:nvPr/>
        </p:nvSpPr>
        <p:spPr>
          <a:xfrm>
            <a:off x="8138160" y="1600200"/>
            <a:ext cx="3474720" cy="38404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6" name="Five data draws"/>
          <p:cNvSpPr/>
          <p:nvPr/>
        </p:nvSpPr>
        <p:spPr>
          <a:xfrm>
            <a:off x="8412480" y="182880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Five data draw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00025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1248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 to 0.88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841248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Five data draws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39776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score moves with the draw, so we quote the average rather than the best run.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score is only believable once the shortcuts have been tested and the numbers still stand.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Does combining both streams pay off? Mixed</a:t>
            </a:r>
            <a:endParaRPr lang="en-US" sz="3400" dirty="0"/>
          </a:p>
        </p:txBody>
      </p:sp>
      <p:sp>
        <p:nvSpPr>
          <p:cNvPr id="3" name="fusion row 0"/>
          <p:cNvSpPr/>
          <p:nvPr/>
        </p:nvSpPr>
        <p:spPr>
          <a:xfrm>
            <a:off x="548640" y="1600200"/>
            <a:ext cx="70408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+0.053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vs clinic record alone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Clear win (p &lt; 0.001)</a:t>
            </a:r>
            <a:endParaRPr lang="en-US" sz="1400" dirty="0"/>
          </a:p>
        </p:txBody>
      </p:sp>
      <p:sp>
        <p:nvSpPr>
          <p:cNvPr id="7" name="fusion row 1"/>
          <p:cNvSpPr/>
          <p:nvPr/>
        </p:nvSpPr>
        <p:spPr>
          <a:xfrm>
            <a:off x="548640" y="2926080"/>
            <a:ext cx="70408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+0.022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vs shortcut control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Clear win (p &lt; 0.001)</a:t>
            </a:r>
            <a:endParaRPr lang="en-US" sz="1400" dirty="0"/>
          </a:p>
        </p:txBody>
      </p:sp>
      <p:sp>
        <p:nvSpPr>
          <p:cNvPr id="11" name="fusion row 2"/>
          <p:cNvSpPr/>
          <p:nvPr/>
        </p:nvSpPr>
        <p:spPr>
          <a:xfrm>
            <a:off x="548640" y="4251960"/>
            <a:ext cx="704088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3434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+0.005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4434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vs best non-fusion mix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4846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Not significant (p = 0.18) and negative in 4 of 5 data draws</a:t>
            </a:r>
            <a:endParaRPr lang="en-US" sz="1400" dirty="0"/>
          </a:p>
        </p:txBody>
      </p:sp>
      <p:sp>
        <p:nvSpPr>
          <p:cNvPr id="15" name="fusion verdict"/>
          <p:cNvSpPr/>
          <p:nvPr/>
        </p:nvSpPr>
        <p:spPr>
          <a:xfrm>
            <a:off x="7863840" y="1600200"/>
            <a:ext cx="3749040" cy="379476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read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246888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Both streams carry signal, and the model uses it. But fusing everything is not proven better than the best single-stream mix. We report it as a negative finding.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6692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The 'best non-fusion mix' was assembled after seeing the results, so even +0.005 flatters fusion.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Real data: the code works, the gain shrinks</a:t>
            </a:r>
            <a:endParaRPr lang="en-US" sz="3400" dirty="0"/>
          </a:p>
        </p:txBody>
      </p:sp>
      <p:sp>
        <p:nvSpPr>
          <p:cNvPr id="3" name="uci card"/>
          <p:cNvSpPr/>
          <p:nvPr/>
        </p:nvSpPr>
        <p:spPr>
          <a:xfrm>
            <a:off x="548640" y="1600200"/>
            <a:ext cx="548640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Run: UCI Diabetes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774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70 real patients with type 1 diabetes, 50 scored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code ran unchanged on real data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Gain over naive baseline: +0.006 (p &lt; 0.001), about 4x smaller than synthetic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AUC of 0.98 is not comparable: 54% of moments are spikes and the naive baseline already scores 0.977</a:t>
            </a:r>
            <a:endParaRPr lang="en-US" sz="1600" dirty="0"/>
          </a:p>
        </p:txBody>
      </p:sp>
      <p:sp>
        <p:nvSpPr>
          <p:cNvPr id="6" name="bigideas card"/>
          <p:cNvSpPr/>
          <p:nvPr/>
        </p:nvSpPr>
        <p:spPr>
          <a:xfrm>
            <a:off x="6309360" y="1600200"/>
            <a:ext cx="530352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Pending: BIG IDEAs Lab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16 prediabetic adults with glucose, wearable and clinic table for the same people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one cohort that can test fusion properly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Downloader, converter and checks are built, but only 6 of 16 are downloaded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paired test has not been run, so no number is quoted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clinician console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4480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Six virtual patients, picked by a clinical rule set in advance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Roster with live risk levels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Glucose, heart-rate and HRV streams with real spikes marked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Alert feed and a per-feature explanation of each score</a:t>
            </a:r>
            <a:endParaRPr lang="en-US" sz="16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Runs offline, with a clear synthetic-data, not-for-clinical-use banner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303520" y="1508760"/>
          <a:ext cx="6309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 conceptual front end over precomputed output. Not a live system.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Scores fell as our checks got stricter</a:t>
            </a:r>
            <a:endParaRPr lang="en-US" sz="3400" dirty="0"/>
          </a:p>
        </p:txBody>
      </p:sp>
      <p:sp>
        <p:nvSpPr>
          <p:cNvPr id="3" name="version v1"/>
          <p:cNvSpPr/>
          <p:nvPr/>
        </p:nvSpPr>
        <p:spPr>
          <a:xfrm>
            <a:off x="548640" y="1600200"/>
            <a:ext cx="3474720" cy="39319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0.986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clinic field (diabetes diagnosis) did the work: 82% of the weight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63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Caught by the same-patient label shuffle</a:t>
            </a:r>
            <a:endParaRPr lang="en-US" sz="1400" dirty="0"/>
          </a:p>
        </p:txBody>
      </p:sp>
      <p:sp>
        <p:nvSpPr>
          <p:cNvPr id="8" name="version v2"/>
          <p:cNvSpPr/>
          <p:nvPr/>
        </p:nvSpPr>
        <p:spPr>
          <a:xfrm>
            <a:off x="4343400" y="1600200"/>
            <a:ext cx="3474720" cy="39319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286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0.953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3832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answer was hidden in the meal clock: time of day alone gave 29%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663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Caught by the shortcut baseline</a:t>
            </a:r>
            <a:endParaRPr lang="en-US" sz="1400" dirty="0"/>
          </a:p>
        </p:txBody>
      </p:sp>
      <p:sp>
        <p:nvSpPr>
          <p:cNvPr id="13" name="version v3"/>
          <p:cNvSpPr/>
          <p:nvPr/>
        </p:nvSpPr>
        <p:spPr>
          <a:xfrm>
            <a:off x="8138160" y="1600200"/>
            <a:ext cx="3474720" cy="39319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2860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0.843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3832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Labels fixed, controls added, five-draw average, tests and CI in place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46634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The number we stand behind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 high AUC is not evidence of a good model until a shortcut baseline has been run against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What the project delivers</a:t>
            </a:r>
            <a:endParaRPr lang="en-US" sz="3400" dirty="0"/>
          </a:p>
        </p:txBody>
      </p:sp>
      <p:sp>
        <p:nvSpPr>
          <p:cNvPr id="3" name="outcome End-to-end pipeline"/>
          <p:cNvSpPr/>
          <p:nvPr/>
        </p:nvSpPr>
        <p:spPr>
          <a:xfrm>
            <a:off x="548640" y="1600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F3F3D"/>
          </a:solidFill>
          <a:ln/>
        </p:spPr>
      </p:sp>
      <p:sp>
        <p:nvSpPr>
          <p:cNvPr id="4" name="End-to-end pipeline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End-to-end pipelin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Data, features, model, reports and console all run from five commands</a:t>
            </a:r>
            <a:endParaRPr lang="en-US" sz="1400" dirty="0"/>
          </a:p>
        </p:txBody>
      </p:sp>
      <p:sp>
        <p:nvSpPr>
          <p:cNvPr id="8" name="outcome Working predictor"/>
          <p:cNvSpPr/>
          <p:nvPr/>
        </p:nvSpPr>
        <p:spPr>
          <a:xfrm>
            <a:off x="4343400" y="1600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F3F3D"/>
          </a:solidFill>
          <a:ln/>
        </p:spPr>
      </p:sp>
      <p:sp>
        <p:nvSpPr>
          <p:cNvPr id="9" name="Working predictor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Working predicto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9659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predictor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560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0.843 ROC-AUC with a 2-hour warning, calibrated risk scores</a:t>
            </a:r>
            <a:endParaRPr lang="en-US" sz="1400" dirty="0"/>
          </a:p>
        </p:txBody>
      </p:sp>
      <p:sp>
        <p:nvSpPr>
          <p:cNvPr id="13" name="outcome Wearables proven useful"/>
          <p:cNvSpPr/>
          <p:nvPr/>
        </p:nvSpPr>
        <p:spPr>
          <a:xfrm>
            <a:off x="8138160" y="160020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F3F3D"/>
          </a:solidFill>
          <a:ln/>
        </p:spPr>
      </p:sp>
      <p:sp>
        <p:nvSpPr>
          <p:cNvPr id="14" name="Wearables proven useful"/>
          <p:cNvSpPr/>
          <p:nvPr/>
        </p:nvSpPr>
        <p:spPr>
          <a:xfrm>
            <a:off x="8412480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Wearables proven usefu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9659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9828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Wearables proven useful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2560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+0.022 over a clock-and-glucose shortcut, in 5 of 5 data draws</a:t>
            </a:r>
            <a:endParaRPr lang="en-US" sz="1400" dirty="0"/>
          </a:p>
        </p:txBody>
      </p:sp>
      <p:sp>
        <p:nvSpPr>
          <p:cNvPr id="18" name="outcome Honest evaluation kit"/>
          <p:cNvSpPr/>
          <p:nvPr/>
        </p:nvSpPr>
        <p:spPr>
          <a:xfrm>
            <a:off x="548640" y="38404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F3F3D"/>
          </a:solidFill>
          <a:ln/>
        </p:spPr>
      </p:sp>
      <p:sp>
        <p:nvSpPr>
          <p:cNvPr id="19" name="Honest evaluation kit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Honest evaluation ki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062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evaluation kit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800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Leakage tests, seed sweep, patient-level significance, alert budgets</a:t>
            </a:r>
            <a:endParaRPr lang="en-US" sz="1400" dirty="0"/>
          </a:p>
        </p:txBody>
      </p:sp>
      <p:sp>
        <p:nvSpPr>
          <p:cNvPr id="23" name="outcome Real-data protocol"/>
          <p:cNvSpPr/>
          <p:nvPr/>
        </p:nvSpPr>
        <p:spPr>
          <a:xfrm>
            <a:off x="4343400" y="38404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F3F3D"/>
          </a:solidFill>
          <a:ln/>
        </p:spPr>
      </p:sp>
      <p:sp>
        <p:nvSpPr>
          <p:cNvPr id="24" name="Real-data protocol"/>
          <p:cNvSpPr/>
          <p:nvPr/>
        </p:nvSpPr>
        <p:spPr>
          <a:xfrm>
            <a:off x="461772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Real-data protoco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20624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0352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Real-data protocol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4800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Ran unchanged on 70 real patients; second cohort wired up</a:t>
            </a:r>
            <a:endParaRPr lang="en-US" sz="1400" dirty="0"/>
          </a:p>
        </p:txBody>
      </p:sp>
      <p:sp>
        <p:nvSpPr>
          <p:cNvPr id="28" name="outcome Reproducible and open"/>
          <p:cNvSpPr/>
          <p:nvPr/>
        </p:nvSpPr>
        <p:spPr>
          <a:xfrm>
            <a:off x="8138160" y="38404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1F3F3D"/>
          </a:solidFill>
          <a:ln/>
        </p:spPr>
      </p:sp>
      <p:sp>
        <p:nvSpPr>
          <p:cNvPr id="29" name="Reproducible and open"/>
          <p:cNvSpPr/>
          <p:nvPr/>
        </p:nvSpPr>
        <p:spPr>
          <a:xfrm>
            <a:off x="8412480" y="4069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Reproducible and open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20624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9828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and open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412480" y="48006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Tests, CI and MIT licence; no raw real data committed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is not proven yet, and what comes next</a:t>
            </a:r>
            <a:endParaRPr lang="en-US" sz="3400" dirty="0"/>
          </a:p>
        </p:txBody>
      </p:sp>
      <p:sp>
        <p:nvSpPr>
          <p:cNvPr id="3" name="limits card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proven yet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774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Synthetic data is not real physiology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Fusion benefit is untested on real paired data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Much of the score comes from who the patient is, not their current state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Week-ahead heart-strain target is weak (AUC 0.64)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Console is a static demo: no login, audit trail or drift checks</a:t>
            </a:r>
            <a:endParaRPr lang="en-US" sz="1600" dirty="0"/>
          </a:p>
        </p:txBody>
      </p:sp>
      <p:sp>
        <p:nvSpPr>
          <p:cNvPr id="6" name="next card"/>
          <p:cNvSpPr/>
          <p:nvPr/>
        </p:nvSpPr>
        <p:spPr>
          <a:xfrm>
            <a:off x="6309360" y="1600200"/>
            <a:ext cx="5303520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2940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8" name="next 1"/>
          <p:cNvSpPr/>
          <p:nvPr/>
        </p:nvSpPr>
        <p:spPr>
          <a:xfrm>
            <a:off x="6629400" y="2423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269480" y="23774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Run the BIG IDEAs paired fusion test</a:t>
            </a:r>
            <a:endParaRPr lang="en-US" sz="1500" dirty="0"/>
          </a:p>
        </p:txBody>
      </p:sp>
      <p:sp>
        <p:nvSpPr>
          <p:cNvPr id="11" name="next 2"/>
          <p:cNvSpPr/>
          <p:nvPr/>
        </p:nvSpPr>
        <p:spPr>
          <a:xfrm>
            <a:off x="6629400" y="3246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32004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Find CGM-grade real data with a matching clinic record</a:t>
            </a:r>
            <a:endParaRPr lang="en-US" sz="1500" dirty="0"/>
          </a:p>
        </p:txBody>
      </p:sp>
      <p:sp>
        <p:nvSpPr>
          <p:cNvPr id="14" name="next 3"/>
          <p:cNvSpPr/>
          <p:nvPr/>
        </p:nvSpPr>
        <p:spPr>
          <a:xfrm>
            <a:off x="6629400" y="4069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40233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Tune alert thresholds per patient</a:t>
            </a:r>
            <a:endParaRPr lang="en-US" sz="1500" dirty="0"/>
          </a:p>
        </p:txBody>
      </p:sp>
      <p:sp>
        <p:nvSpPr>
          <p:cNvPr id="17" name="next 4"/>
          <p:cNvSpPr/>
          <p:nvPr/>
        </p:nvSpPr>
        <p:spPr>
          <a:xfrm>
            <a:off x="6629400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48463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Add login, audit logging, alert-fatigue and drift monitoring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 Twin Warm Clinic">
  <a:themeElements>
    <a:clrScheme name="Digital Twin Warm Clinic">
      <a:dk1>
        <a:srgbClr val="1E2A2A"/>
      </a:dk1>
      <a:lt1>
        <a:srgbClr val="FFFFFF"/>
      </a:lt1>
      <a:dk2>
        <a:srgbClr val="17302F"/>
      </a:dk2>
      <a:lt2>
        <a:srgbClr val="EEF3F1"/>
      </a:lt2>
      <a:accent1>
        <a:srgbClr val="E5634D"/>
      </a:accent1>
      <a:accent2>
        <a:srgbClr val="2F7F79"/>
      </a:accent2>
      <a:accent3>
        <a:srgbClr val="7FA99B"/>
      </a:accent3>
      <a:accent4>
        <a:srgbClr val="E9B44C"/>
      </a:accent4>
      <a:accent5>
        <a:srgbClr val="5E6C6B"/>
      </a:accent5>
      <a:accent6>
        <a:srgbClr val="B8D3CB"/>
      </a:accent6>
      <a:hlink>
        <a:srgbClr val="2F7F79"/>
      </a:hlink>
      <a:folHlink>
        <a:srgbClr val="5E6C6B"/>
      </a:folHlink>
    </a:clrScheme>
    <a:fontScheme name="Digital Twin Warm Clini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 PoC: Predictive Glucose-Spike Alert</dc:title>
  <dc:subject>PptxGenJS Presentation</dc:subject>
  <dc:creator>PptxGenJS</dc:creator>
  <cp:lastModifiedBy>PptxGenJS</cp:lastModifiedBy>
  <cp:revision>1</cp:revision>
  <dcterms:created xsi:type="dcterms:W3CDTF">2026-10-24T16:51:30Z</dcterms:created>
  <dcterms:modified xsi:type="dcterms:W3CDTF">2026-10-24T16:51:30Z</dcterms:modified>
</cp:coreProperties>
</file>