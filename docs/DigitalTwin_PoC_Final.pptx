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10A01BC-5ED1-6343-70DF-BD48A1EE7699}">
          <p14:sldIdLst>
            <p14:sldId id="256"/>
            <p14:sldId id="257"/>
            <p14:sldId id="258"/>
          </p14:sldIdLst>
        </p14:section>
        <p14:section name="Method" id="{C6E88784-2FA6-C845-41FB-51F5A7C7CF52}">
          <p14:sldIdLst>
            <p14:sldId id="259"/>
            <p14:sldId id="260"/>
          </p14:sldIdLst>
        </p14:section>
        <p14:section name="Results" id="{D7343965-3880-7730-A69D-4D8308EA0698}">
          <p14:sldIdLst>
            <p14:sldId id="261"/>
            <p14:sldId id="262"/>
            <p14:sldId id="263"/>
            <p14:sldId id="264"/>
            <p14:sldId id="265"/>
          </p14:sldIdLst>
        </p14:section>
        <p14:section name="Reality check" id="{C0C7DBCD-2963-41A0-2067-D9837D00C787}">
          <p14:sldIdLst>
            <p14:sldId id="266"/>
            <p14:sldId id="267"/>
            <p14:sldId id="268"/>
          </p14:sldIdLst>
        </p14:section>
        <p14:section name="Wrap-up" id="{9DC1A549-3EEF-F481-6546-D61E9FC59DF8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A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E2A2A"/>
                </a:solidFill>
                <a:latin typeface="+mn-lt"/>
              </a:rPr>
              <a:t>ROC-AUC by feature set (axis starts at 0.70)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B8D3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ADA-4353-9EB8-700182BCE494}"/>
              </c:ext>
            </c:extLst>
          </c:dPt>
          <c:dPt>
            <c:idx val="1"/>
            <c:invertIfNegative val="0"/>
            <c:bubble3D val="0"/>
            <c:spPr>
              <a:solidFill>
                <a:srgbClr val="7FA9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ADA-4353-9EB8-700182BCE494}"/>
              </c:ext>
            </c:extLst>
          </c:dPt>
          <c:dPt>
            <c:idx val="2"/>
            <c:invertIfNegative val="0"/>
            <c:bubble3D val="0"/>
            <c:spPr>
              <a:solidFill>
                <a:srgbClr val="2F7F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ADA-4353-9EB8-700182BCE494}"/>
              </c:ext>
            </c:extLst>
          </c:dPt>
          <c:dPt>
            <c:idx val="3"/>
            <c:invertIfNegative val="0"/>
            <c:bubble3D val="0"/>
            <c:spPr>
              <a:solidFill>
                <a:srgbClr val="E56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ADA-4353-9EB8-700182BCE49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A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Clinic record only</c:v>
                </c:pt>
                <c:pt idx="1">
                  <c:v>Shortcut control</c:v>
                </c:pt>
                <c:pt idx="2">
                  <c:v>Wearable only</c:v>
                </c:pt>
                <c:pt idx="3">
                  <c:v>Full model (both)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0.82299999999999995</c:v>
                </c:pt>
                <c:pt idx="1">
                  <c:v>0.85399999999999998</c:v>
                </c:pt>
                <c:pt idx="2">
                  <c:v>0.871</c:v>
                </c:pt>
                <c:pt idx="3">
                  <c:v>0.876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ADA-4353-9EB8-700182BCE4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9525" cap="flat">
              <a:solidFill>
                <a:srgbClr val="D9E3E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C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A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E2A2A"/>
                </a:solidFill>
                <a:latin typeface="+mn-lt"/>
              </a:rPr>
              <a:t>Share of the model's decision weight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importance (%)</c:v>
                </c:pt>
              </c:strCache>
            </c:strRef>
          </c:tx>
          <c:spPr>
            <a:solidFill>
              <a:srgbClr val="B8D3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42B-4E43-95B7-D8D251A9D99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42B-4E43-95B7-D8D251A9D99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42B-4E43-95B7-D8D251A9D992}"/>
              </c:ext>
            </c:extLst>
          </c:dPt>
          <c:dPt>
            <c:idx val="3"/>
            <c:invertIfNegative val="0"/>
            <c:bubble3D val="0"/>
            <c:spPr>
              <a:solidFill>
                <a:srgbClr val="7FA9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2B-4E43-95B7-D8D251A9D992}"/>
              </c:ext>
            </c:extLst>
          </c:dPt>
          <c:dPt>
            <c:idx val="4"/>
            <c:invertIfNegative val="0"/>
            <c:bubble3D val="0"/>
            <c:spPr>
              <a:solidFill>
                <a:srgbClr val="7FA9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42B-4E43-95B7-D8D251A9D992}"/>
              </c:ext>
            </c:extLst>
          </c:dPt>
          <c:dPt>
            <c:idx val="5"/>
            <c:invertIfNegative val="0"/>
            <c:bubble3D val="0"/>
            <c:spPr>
              <a:solidFill>
                <a:srgbClr val="2F7F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42B-4E43-95B7-D8D251A9D992}"/>
              </c:ext>
            </c:extLst>
          </c:dPt>
          <c:dPt>
            <c:idx val="6"/>
            <c:invertIfNegative val="0"/>
            <c:bubble3D val="0"/>
            <c:spPr>
              <a:solidFill>
                <a:srgbClr val="E56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42B-4E43-95B7-D8D251A9D992}"/>
              </c:ext>
            </c:extLst>
          </c:dPt>
          <c:dPt>
            <c:idx val="7"/>
            <c:invertIfNegative val="0"/>
            <c:bubble3D val="0"/>
            <c:spPr>
              <a:solidFill>
                <a:srgbClr val="E56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42B-4E43-95B7-D8D251A9D99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2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Glucose variability (3 h)</c:v>
                </c:pt>
                <c:pt idx="1">
                  <c:v>HRV right now</c:v>
                </c:pt>
                <c:pt idx="2">
                  <c:v>BMI</c:v>
                </c:pt>
                <c:pt idx="3">
                  <c:v>HbA1c</c:v>
                </c:pt>
                <c:pt idx="4">
                  <c:v>Age</c:v>
                </c:pt>
                <c:pt idx="5">
                  <c:v>Glucose average (3 h)</c:v>
                </c:pt>
                <c:pt idx="6">
                  <c:v>Time of day</c:v>
                </c:pt>
                <c:pt idx="7">
                  <c:v>HRV average (3 h)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4.5</c:v>
                </c:pt>
                <c:pt idx="1">
                  <c:v>4.7</c:v>
                </c:pt>
                <c:pt idx="2">
                  <c:v>6</c:v>
                </c:pt>
                <c:pt idx="3">
                  <c:v>6.3</c:v>
                </c:pt>
                <c:pt idx="4">
                  <c:v>7.1</c:v>
                </c:pt>
                <c:pt idx="5">
                  <c:v>10.9</c:v>
                </c:pt>
                <c:pt idx="6">
                  <c:v>15</c:v>
                </c:pt>
                <c:pt idx="7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42B-4E43-95B7-D8D251A9D9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A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E2A2A"/>
                </a:solidFill>
                <a:latin typeface="+mn-lt"/>
              </a:rPr>
              <a:t>Patient P100133: 48 hours of glucose (synthetic)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Glucose (mg/dL)</c:v>
                </c:pt>
              </c:strCache>
            </c:strRef>
          </c:tx>
          <c:spPr>
            <a:ln w="31750" cap="flat">
              <a:solidFill>
                <a:srgbClr val="E5634D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Sheet1!$A$2:$A$193</c:f>
              <c:strCache>
                <c:ptCount val="192"/>
                <c:pt idx="0">
                  <c:v>08-19 22:00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 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08-20 06:00</c:v>
                </c:pt>
                <c:pt idx="33">
                  <c:v> </c:v>
                </c:pt>
                <c:pt idx="34">
                  <c:v> </c:v>
                </c:pt>
                <c:pt idx="35">
                  <c:v> 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 </c:v>
                </c:pt>
                <c:pt idx="43">
                  <c:v> </c:v>
                </c:pt>
                <c:pt idx="44">
                  <c:v> </c:v>
                </c:pt>
                <c:pt idx="45">
                  <c:v> </c:v>
                </c:pt>
                <c:pt idx="46">
                  <c:v> </c:v>
                </c:pt>
                <c:pt idx="47">
                  <c:v> </c:v>
                </c:pt>
                <c:pt idx="48">
                  <c:v> </c:v>
                </c:pt>
                <c:pt idx="49">
                  <c:v> </c:v>
                </c:pt>
                <c:pt idx="50">
                  <c:v> </c:v>
                </c:pt>
                <c:pt idx="51">
                  <c:v> </c:v>
                </c:pt>
                <c:pt idx="52">
                  <c:v> </c:v>
                </c:pt>
                <c:pt idx="53">
                  <c:v> </c:v>
                </c:pt>
                <c:pt idx="54">
                  <c:v> </c:v>
                </c:pt>
                <c:pt idx="55">
                  <c:v> </c:v>
                </c:pt>
                <c:pt idx="56">
                  <c:v> </c:v>
                </c:pt>
                <c:pt idx="57">
                  <c:v> </c:v>
                </c:pt>
                <c:pt idx="58">
                  <c:v> </c:v>
                </c:pt>
                <c:pt idx="59">
                  <c:v> </c:v>
                </c:pt>
                <c:pt idx="60">
                  <c:v> </c:v>
                </c:pt>
                <c:pt idx="61">
                  <c:v> </c:v>
                </c:pt>
                <c:pt idx="62">
                  <c:v> </c:v>
                </c:pt>
                <c:pt idx="63">
                  <c:v> </c:v>
                </c:pt>
                <c:pt idx="64">
                  <c:v>08-20 14:00</c:v>
                </c:pt>
                <c:pt idx="65">
                  <c:v> </c:v>
                </c:pt>
                <c:pt idx="66">
                  <c:v> </c:v>
                </c:pt>
                <c:pt idx="67">
                  <c:v> </c:v>
                </c:pt>
                <c:pt idx="68">
                  <c:v> </c:v>
                </c:pt>
                <c:pt idx="69">
                  <c:v> </c:v>
                </c:pt>
                <c:pt idx="70">
                  <c:v> </c:v>
                </c:pt>
                <c:pt idx="71">
                  <c:v> </c:v>
                </c:pt>
                <c:pt idx="72">
                  <c:v> </c:v>
                </c:pt>
                <c:pt idx="73">
                  <c:v> </c:v>
                </c:pt>
                <c:pt idx="74">
                  <c:v> </c:v>
                </c:pt>
                <c:pt idx="75">
                  <c:v> </c:v>
                </c:pt>
                <c:pt idx="76">
                  <c:v> </c:v>
                </c:pt>
                <c:pt idx="77">
                  <c:v> </c:v>
                </c:pt>
                <c:pt idx="78">
                  <c:v> </c:v>
                </c:pt>
                <c:pt idx="79">
                  <c:v> </c:v>
                </c:pt>
                <c:pt idx="80">
                  <c:v> </c:v>
                </c:pt>
                <c:pt idx="81">
                  <c:v> </c:v>
                </c:pt>
                <c:pt idx="82">
                  <c:v> </c:v>
                </c:pt>
                <c:pt idx="83">
                  <c:v> </c:v>
                </c:pt>
                <c:pt idx="84">
                  <c:v> </c:v>
                </c:pt>
                <c:pt idx="85">
                  <c:v> </c:v>
                </c:pt>
                <c:pt idx="86">
                  <c:v> </c:v>
                </c:pt>
                <c:pt idx="87">
                  <c:v> </c:v>
                </c:pt>
                <c:pt idx="88">
                  <c:v> </c:v>
                </c:pt>
                <c:pt idx="89">
                  <c:v> </c:v>
                </c:pt>
                <c:pt idx="90">
                  <c:v> </c:v>
                </c:pt>
                <c:pt idx="91">
                  <c:v> </c:v>
                </c:pt>
                <c:pt idx="92">
                  <c:v> </c:v>
                </c:pt>
                <c:pt idx="93">
                  <c:v> </c:v>
                </c:pt>
                <c:pt idx="94">
                  <c:v> </c:v>
                </c:pt>
                <c:pt idx="95">
                  <c:v> </c:v>
                </c:pt>
                <c:pt idx="96">
                  <c:v>08-20 22:00</c:v>
                </c:pt>
                <c:pt idx="97">
                  <c:v> </c:v>
                </c:pt>
                <c:pt idx="98">
                  <c:v> </c:v>
                </c:pt>
                <c:pt idx="99">
                  <c:v> </c:v>
                </c:pt>
                <c:pt idx="100">
                  <c:v> </c:v>
                </c:pt>
                <c:pt idx="101">
                  <c:v> </c:v>
                </c:pt>
                <c:pt idx="102">
                  <c:v> </c:v>
                </c:pt>
                <c:pt idx="103">
                  <c:v> </c:v>
                </c:pt>
                <c:pt idx="104">
                  <c:v> </c:v>
                </c:pt>
                <c:pt idx="105">
                  <c:v> </c:v>
                </c:pt>
                <c:pt idx="106">
                  <c:v> </c:v>
                </c:pt>
                <c:pt idx="107">
                  <c:v> </c:v>
                </c:pt>
                <c:pt idx="108">
                  <c:v> </c:v>
                </c:pt>
                <c:pt idx="109">
                  <c:v> </c:v>
                </c:pt>
                <c:pt idx="110">
                  <c:v> </c:v>
                </c:pt>
                <c:pt idx="111">
                  <c:v> </c:v>
                </c:pt>
                <c:pt idx="112">
                  <c:v> </c:v>
                </c:pt>
                <c:pt idx="113">
                  <c:v> </c:v>
                </c:pt>
                <c:pt idx="114">
                  <c:v> </c:v>
                </c:pt>
                <c:pt idx="115">
                  <c:v> </c:v>
                </c:pt>
                <c:pt idx="116">
                  <c:v> </c:v>
                </c:pt>
                <c:pt idx="117">
                  <c:v> </c:v>
                </c:pt>
                <c:pt idx="118">
                  <c:v> </c:v>
                </c:pt>
                <c:pt idx="119">
                  <c:v> </c:v>
                </c:pt>
                <c:pt idx="120">
                  <c:v> </c:v>
                </c:pt>
                <c:pt idx="121">
                  <c:v> </c:v>
                </c:pt>
                <c:pt idx="122">
                  <c:v> </c:v>
                </c:pt>
                <c:pt idx="123">
                  <c:v> </c:v>
                </c:pt>
                <c:pt idx="124">
                  <c:v> </c:v>
                </c:pt>
                <c:pt idx="125">
                  <c:v> </c:v>
                </c:pt>
                <c:pt idx="126">
                  <c:v> </c:v>
                </c:pt>
                <c:pt idx="127">
                  <c:v> </c:v>
                </c:pt>
                <c:pt idx="128">
                  <c:v>08-21 06:00</c:v>
                </c:pt>
                <c:pt idx="129">
                  <c:v> </c:v>
                </c:pt>
                <c:pt idx="130">
                  <c:v> </c:v>
                </c:pt>
                <c:pt idx="131">
                  <c:v> </c:v>
                </c:pt>
                <c:pt idx="132">
                  <c:v> </c:v>
                </c:pt>
                <c:pt idx="133">
                  <c:v> </c:v>
                </c:pt>
                <c:pt idx="134">
                  <c:v> </c:v>
                </c:pt>
                <c:pt idx="135">
                  <c:v> </c:v>
                </c:pt>
                <c:pt idx="136">
                  <c:v> </c:v>
                </c:pt>
                <c:pt idx="137">
                  <c:v> </c:v>
                </c:pt>
                <c:pt idx="138">
                  <c:v> </c:v>
                </c:pt>
                <c:pt idx="139">
                  <c:v> </c:v>
                </c:pt>
                <c:pt idx="140">
                  <c:v> </c:v>
                </c:pt>
                <c:pt idx="141">
                  <c:v> </c:v>
                </c:pt>
                <c:pt idx="142">
                  <c:v> </c:v>
                </c:pt>
                <c:pt idx="143">
                  <c:v> </c:v>
                </c:pt>
                <c:pt idx="144">
                  <c:v> </c:v>
                </c:pt>
                <c:pt idx="145">
                  <c:v> </c:v>
                </c:pt>
                <c:pt idx="146">
                  <c:v> </c:v>
                </c:pt>
                <c:pt idx="147">
                  <c:v> </c:v>
                </c:pt>
                <c:pt idx="148">
                  <c:v> </c:v>
                </c:pt>
                <c:pt idx="149">
                  <c:v> </c:v>
                </c:pt>
                <c:pt idx="150">
                  <c:v> </c:v>
                </c:pt>
                <c:pt idx="151">
                  <c:v> </c:v>
                </c:pt>
                <c:pt idx="152">
                  <c:v> </c:v>
                </c:pt>
                <c:pt idx="153">
                  <c:v> </c:v>
                </c:pt>
                <c:pt idx="154">
                  <c:v> </c:v>
                </c:pt>
                <c:pt idx="155">
                  <c:v> </c:v>
                </c:pt>
                <c:pt idx="156">
                  <c:v> </c:v>
                </c:pt>
                <c:pt idx="157">
                  <c:v> </c:v>
                </c:pt>
                <c:pt idx="158">
                  <c:v> </c:v>
                </c:pt>
                <c:pt idx="159">
                  <c:v> </c:v>
                </c:pt>
                <c:pt idx="160">
                  <c:v>08-21 14:00</c:v>
                </c:pt>
                <c:pt idx="161">
                  <c:v> </c:v>
                </c:pt>
                <c:pt idx="162">
                  <c:v> </c:v>
                </c:pt>
                <c:pt idx="163">
                  <c:v> </c:v>
                </c:pt>
                <c:pt idx="164">
                  <c:v> </c:v>
                </c:pt>
                <c:pt idx="165">
                  <c:v> </c:v>
                </c:pt>
                <c:pt idx="166">
                  <c:v> </c:v>
                </c:pt>
                <c:pt idx="167">
                  <c:v> </c:v>
                </c:pt>
                <c:pt idx="168">
                  <c:v> </c:v>
                </c:pt>
                <c:pt idx="169">
                  <c:v> </c:v>
                </c:pt>
                <c:pt idx="170">
                  <c:v> </c:v>
                </c:pt>
                <c:pt idx="171">
                  <c:v> </c:v>
                </c:pt>
                <c:pt idx="172">
                  <c:v> </c:v>
                </c:pt>
                <c:pt idx="173">
                  <c:v> </c:v>
                </c:pt>
                <c:pt idx="174">
                  <c:v> </c:v>
                </c:pt>
                <c:pt idx="175">
                  <c:v> </c:v>
                </c:pt>
                <c:pt idx="176">
                  <c:v> </c:v>
                </c:pt>
                <c:pt idx="177">
                  <c:v> </c:v>
                </c:pt>
                <c:pt idx="178">
                  <c:v> </c:v>
                </c:pt>
                <c:pt idx="179">
                  <c:v> </c:v>
                </c:pt>
                <c:pt idx="180">
                  <c:v> </c:v>
                </c:pt>
                <c:pt idx="181">
                  <c:v> </c:v>
                </c:pt>
                <c:pt idx="182">
                  <c:v> </c:v>
                </c:pt>
                <c:pt idx="183">
                  <c:v> </c:v>
                </c:pt>
                <c:pt idx="184">
                  <c:v> </c:v>
                </c:pt>
                <c:pt idx="185">
                  <c:v> </c:v>
                </c:pt>
                <c:pt idx="186">
                  <c:v> </c:v>
                </c:pt>
                <c:pt idx="187">
                  <c:v> </c:v>
                </c:pt>
                <c:pt idx="188">
                  <c:v> </c:v>
                </c:pt>
                <c:pt idx="189">
                  <c:v> </c:v>
                </c:pt>
                <c:pt idx="190">
                  <c:v> </c:v>
                </c:pt>
                <c:pt idx="191">
                  <c:v> </c:v>
                </c:pt>
              </c:strCache>
            </c:strRef>
          </c:cat>
          <c:val>
            <c:numRef>
              <c:f>Sheet1!$B$2:$B$193</c:f>
              <c:numCache>
                <c:formatCode>General</c:formatCode>
                <c:ptCount val="192"/>
                <c:pt idx="0">
                  <c:v>177.1</c:v>
                </c:pt>
                <c:pt idx="1">
                  <c:v>241.7</c:v>
                </c:pt>
                <c:pt idx="2">
                  <c:v>171.1</c:v>
                </c:pt>
                <c:pt idx="3">
                  <c:v>154.80000000000001</c:v>
                </c:pt>
                <c:pt idx="4">
                  <c:v>146</c:v>
                </c:pt>
                <c:pt idx="5">
                  <c:v>148</c:v>
                </c:pt>
                <c:pt idx="6">
                  <c:v>148.6</c:v>
                </c:pt>
                <c:pt idx="7">
                  <c:v>167.3</c:v>
                </c:pt>
                <c:pt idx="8">
                  <c:v>132.30000000000001</c:v>
                </c:pt>
                <c:pt idx="9">
                  <c:v>150.69999999999999</c:v>
                </c:pt>
                <c:pt idx="10">
                  <c:v>151.9</c:v>
                </c:pt>
                <c:pt idx="11">
                  <c:v>140.6</c:v>
                </c:pt>
                <c:pt idx="12">
                  <c:v>166.3</c:v>
                </c:pt>
                <c:pt idx="13">
                  <c:v>161.5</c:v>
                </c:pt>
                <c:pt idx="14">
                  <c:v>160</c:v>
                </c:pt>
                <c:pt idx="15">
                  <c:v>150.69999999999999</c:v>
                </c:pt>
                <c:pt idx="16">
                  <c:v>150.6</c:v>
                </c:pt>
                <c:pt idx="17">
                  <c:v>177.8</c:v>
                </c:pt>
                <c:pt idx="18">
                  <c:v>191.3</c:v>
                </c:pt>
                <c:pt idx="19">
                  <c:v>151.6</c:v>
                </c:pt>
                <c:pt idx="20">
                  <c:v>173.5</c:v>
                </c:pt>
                <c:pt idx="21">
                  <c:v>190.5</c:v>
                </c:pt>
                <c:pt idx="22">
                  <c:v>164.8</c:v>
                </c:pt>
                <c:pt idx="23">
                  <c:v>177.4</c:v>
                </c:pt>
                <c:pt idx="24">
                  <c:v>209.6</c:v>
                </c:pt>
                <c:pt idx="25">
                  <c:v>164.4</c:v>
                </c:pt>
                <c:pt idx="26">
                  <c:v>208.5</c:v>
                </c:pt>
                <c:pt idx="27">
                  <c:v>165.7</c:v>
                </c:pt>
                <c:pt idx="28">
                  <c:v>149.4</c:v>
                </c:pt>
                <c:pt idx="29">
                  <c:v>224.4</c:v>
                </c:pt>
                <c:pt idx="30">
                  <c:v>176.7</c:v>
                </c:pt>
                <c:pt idx="31">
                  <c:v>183.3</c:v>
                </c:pt>
                <c:pt idx="32">
                  <c:v>188.1</c:v>
                </c:pt>
                <c:pt idx="33">
                  <c:v>187.4</c:v>
                </c:pt>
                <c:pt idx="34">
                  <c:v>181.5</c:v>
                </c:pt>
                <c:pt idx="35">
                  <c:v>191.9</c:v>
                </c:pt>
                <c:pt idx="36">
                  <c:v>188.5</c:v>
                </c:pt>
                <c:pt idx="37">
                  <c:v>176.4</c:v>
                </c:pt>
                <c:pt idx="38">
                  <c:v>163.30000000000001</c:v>
                </c:pt>
                <c:pt idx="39">
                  <c:v>174.7</c:v>
                </c:pt>
                <c:pt idx="40">
                  <c:v>173.2</c:v>
                </c:pt>
                <c:pt idx="41">
                  <c:v>158.9</c:v>
                </c:pt>
                <c:pt idx="42">
                  <c:v>158.69999999999999</c:v>
                </c:pt>
                <c:pt idx="43">
                  <c:v>208.4</c:v>
                </c:pt>
                <c:pt idx="44">
                  <c:v>163.9</c:v>
                </c:pt>
                <c:pt idx="45">
                  <c:v>170.6</c:v>
                </c:pt>
                <c:pt idx="46">
                  <c:v>175.8</c:v>
                </c:pt>
                <c:pt idx="47">
                  <c:v>162.19999999999999</c:v>
                </c:pt>
                <c:pt idx="48">
                  <c:v>166.6</c:v>
                </c:pt>
                <c:pt idx="49">
                  <c:v>170.1</c:v>
                </c:pt>
                <c:pt idx="50">
                  <c:v>184.2</c:v>
                </c:pt>
                <c:pt idx="51">
                  <c:v>193.4</c:v>
                </c:pt>
                <c:pt idx="52">
                  <c:v>202.7</c:v>
                </c:pt>
                <c:pt idx="53">
                  <c:v>209.5</c:v>
                </c:pt>
                <c:pt idx="54">
                  <c:v>199.8</c:v>
                </c:pt>
                <c:pt idx="55">
                  <c:v>190.4</c:v>
                </c:pt>
                <c:pt idx="56">
                  <c:v>201.6</c:v>
                </c:pt>
                <c:pt idx="57">
                  <c:v>184.7</c:v>
                </c:pt>
                <c:pt idx="58">
                  <c:v>263.5</c:v>
                </c:pt>
                <c:pt idx="59">
                  <c:v>180.7</c:v>
                </c:pt>
                <c:pt idx="60">
                  <c:v>180</c:v>
                </c:pt>
                <c:pt idx="61">
                  <c:v>163</c:v>
                </c:pt>
                <c:pt idx="62">
                  <c:v>193.6</c:v>
                </c:pt>
                <c:pt idx="63">
                  <c:v>188.9</c:v>
                </c:pt>
                <c:pt idx="64">
                  <c:v>177.6</c:v>
                </c:pt>
                <c:pt idx="65">
                  <c:v>147.1</c:v>
                </c:pt>
                <c:pt idx="66">
                  <c:v>150.69999999999999</c:v>
                </c:pt>
                <c:pt idx="67">
                  <c:v>162.30000000000001</c:v>
                </c:pt>
                <c:pt idx="68">
                  <c:v>158.19999999999999</c:v>
                </c:pt>
                <c:pt idx="69">
                  <c:v>400</c:v>
                </c:pt>
                <c:pt idx="70">
                  <c:v>158.69999999999999</c:v>
                </c:pt>
                <c:pt idx="71">
                  <c:v>164.9</c:v>
                </c:pt>
                <c:pt idx="72">
                  <c:v>171.2</c:v>
                </c:pt>
                <c:pt idx="73">
                  <c:v>142.80000000000001</c:v>
                </c:pt>
                <c:pt idx="74">
                  <c:v>151</c:v>
                </c:pt>
                <c:pt idx="75">
                  <c:v>159.9</c:v>
                </c:pt>
                <c:pt idx="76">
                  <c:v>174.4</c:v>
                </c:pt>
                <c:pt idx="77">
                  <c:v>166.6</c:v>
                </c:pt>
                <c:pt idx="78">
                  <c:v>189</c:v>
                </c:pt>
                <c:pt idx="79">
                  <c:v>170.6</c:v>
                </c:pt>
                <c:pt idx="80">
                  <c:v>187</c:v>
                </c:pt>
                <c:pt idx="81">
                  <c:v>224.3</c:v>
                </c:pt>
                <c:pt idx="82">
                  <c:v>180.8</c:v>
                </c:pt>
                <c:pt idx="83">
                  <c:v>176.4</c:v>
                </c:pt>
                <c:pt idx="84">
                  <c:v>191.1</c:v>
                </c:pt>
                <c:pt idx="85">
                  <c:v>178.1</c:v>
                </c:pt>
                <c:pt idx="86">
                  <c:v>206.5</c:v>
                </c:pt>
                <c:pt idx="87">
                  <c:v>217.8</c:v>
                </c:pt>
                <c:pt idx="88">
                  <c:v>175.6</c:v>
                </c:pt>
                <c:pt idx="89">
                  <c:v>200.1</c:v>
                </c:pt>
                <c:pt idx="90">
                  <c:v>195.3</c:v>
                </c:pt>
                <c:pt idx="91">
                  <c:v>171.6</c:v>
                </c:pt>
                <c:pt idx="92">
                  <c:v>186.5</c:v>
                </c:pt>
                <c:pt idx="93">
                  <c:v>189.4</c:v>
                </c:pt>
                <c:pt idx="94">
                  <c:v>209.9</c:v>
                </c:pt>
                <c:pt idx="95">
                  <c:v>181.2</c:v>
                </c:pt>
                <c:pt idx="96">
                  <c:v>182.6</c:v>
                </c:pt>
                <c:pt idx="97">
                  <c:v>178.5</c:v>
                </c:pt>
                <c:pt idx="98">
                  <c:v>178.8</c:v>
                </c:pt>
                <c:pt idx="99">
                  <c:v>172.3</c:v>
                </c:pt>
                <c:pt idx="100">
                  <c:v>141</c:v>
                </c:pt>
                <c:pt idx="101">
                  <c:v>158.1</c:v>
                </c:pt>
                <c:pt idx="102">
                  <c:v>208.1</c:v>
                </c:pt>
                <c:pt idx="103">
                  <c:v>155.4</c:v>
                </c:pt>
                <c:pt idx="104">
                  <c:v>161.9</c:v>
                </c:pt>
                <c:pt idx="105">
                  <c:v>152.69999999999999</c:v>
                </c:pt>
                <c:pt idx="106">
                  <c:v>211.2</c:v>
                </c:pt>
                <c:pt idx="107">
                  <c:v>154</c:v>
                </c:pt>
                <c:pt idx="108">
                  <c:v>153.30000000000001</c:v>
                </c:pt>
                <c:pt idx="109">
                  <c:v>161.30000000000001</c:v>
                </c:pt>
                <c:pt idx="110">
                  <c:v>143.19999999999999</c:v>
                </c:pt>
                <c:pt idx="111">
                  <c:v>144</c:v>
                </c:pt>
                <c:pt idx="112">
                  <c:v>139.5</c:v>
                </c:pt>
                <c:pt idx="113">
                  <c:v>129.30000000000001</c:v>
                </c:pt>
                <c:pt idx="114">
                  <c:v>129.80000000000001</c:v>
                </c:pt>
                <c:pt idx="115">
                  <c:v>125.8</c:v>
                </c:pt>
                <c:pt idx="116">
                  <c:v>136.80000000000001</c:v>
                </c:pt>
                <c:pt idx="117">
                  <c:v>140</c:v>
                </c:pt>
                <c:pt idx="118">
                  <c:v>169</c:v>
                </c:pt>
                <c:pt idx="119">
                  <c:v>139.4</c:v>
                </c:pt>
                <c:pt idx="120">
                  <c:v>174.6</c:v>
                </c:pt>
                <c:pt idx="121">
                  <c:v>138.30000000000001</c:v>
                </c:pt>
                <c:pt idx="122">
                  <c:v>136.69999999999999</c:v>
                </c:pt>
                <c:pt idx="123">
                  <c:v>155.1</c:v>
                </c:pt>
                <c:pt idx="124">
                  <c:v>146.19999999999999</c:v>
                </c:pt>
                <c:pt idx="125">
                  <c:v>168.8</c:v>
                </c:pt>
                <c:pt idx="126">
                  <c:v>172.6</c:v>
                </c:pt>
                <c:pt idx="127">
                  <c:v>152.5</c:v>
                </c:pt>
                <c:pt idx="128">
                  <c:v>179.8</c:v>
                </c:pt>
                <c:pt idx="129">
                  <c:v>157.6</c:v>
                </c:pt>
                <c:pt idx="130">
                  <c:v>179.2</c:v>
                </c:pt>
                <c:pt idx="131">
                  <c:v>166.8</c:v>
                </c:pt>
                <c:pt idx="132">
                  <c:v>163.80000000000001</c:v>
                </c:pt>
                <c:pt idx="133">
                  <c:v>169.6</c:v>
                </c:pt>
                <c:pt idx="134">
                  <c:v>153.5</c:v>
                </c:pt>
                <c:pt idx="135">
                  <c:v>165.4</c:v>
                </c:pt>
                <c:pt idx="136">
                  <c:v>156.80000000000001</c:v>
                </c:pt>
                <c:pt idx="137">
                  <c:v>153.5</c:v>
                </c:pt>
                <c:pt idx="138">
                  <c:v>166.3</c:v>
                </c:pt>
                <c:pt idx="139">
                  <c:v>149.80000000000001</c:v>
                </c:pt>
                <c:pt idx="140">
                  <c:v>151.4</c:v>
                </c:pt>
                <c:pt idx="141">
                  <c:v>152.30000000000001</c:v>
                </c:pt>
                <c:pt idx="142">
                  <c:v>141.80000000000001</c:v>
                </c:pt>
                <c:pt idx="143">
                  <c:v>137.80000000000001</c:v>
                </c:pt>
                <c:pt idx="144">
                  <c:v>151.19999999999999</c:v>
                </c:pt>
                <c:pt idx="145">
                  <c:v>139.19999999999999</c:v>
                </c:pt>
                <c:pt idx="146">
                  <c:v>147.80000000000001</c:v>
                </c:pt>
                <c:pt idx="147">
                  <c:v>170.2</c:v>
                </c:pt>
                <c:pt idx="148">
                  <c:v>153.4</c:v>
                </c:pt>
                <c:pt idx="149">
                  <c:v>163.19999999999999</c:v>
                </c:pt>
                <c:pt idx="150">
                  <c:v>157</c:v>
                </c:pt>
                <c:pt idx="151">
                  <c:v>174.1</c:v>
                </c:pt>
                <c:pt idx="152">
                  <c:v>174.7</c:v>
                </c:pt>
                <c:pt idx="153">
                  <c:v>176.8</c:v>
                </c:pt>
                <c:pt idx="154">
                  <c:v>166.5</c:v>
                </c:pt>
                <c:pt idx="155">
                  <c:v>158.69999999999999</c:v>
                </c:pt>
                <c:pt idx="156">
                  <c:v>167.5</c:v>
                </c:pt>
                <c:pt idx="157">
                  <c:v>151.6</c:v>
                </c:pt>
                <c:pt idx="158">
                  <c:v>157</c:v>
                </c:pt>
                <c:pt idx="159">
                  <c:v>162.30000000000001</c:v>
                </c:pt>
                <c:pt idx="160">
                  <c:v>160.19999999999999</c:v>
                </c:pt>
                <c:pt idx="161">
                  <c:v>162.1</c:v>
                </c:pt>
                <c:pt idx="162">
                  <c:v>151.19999999999999</c:v>
                </c:pt>
                <c:pt idx="163">
                  <c:v>148</c:v>
                </c:pt>
                <c:pt idx="164">
                  <c:v>155.1</c:v>
                </c:pt>
                <c:pt idx="165">
                  <c:v>127.5</c:v>
                </c:pt>
                <c:pt idx="166">
                  <c:v>142.30000000000001</c:v>
                </c:pt>
                <c:pt idx="167">
                  <c:v>136.19999999999999</c:v>
                </c:pt>
                <c:pt idx="168">
                  <c:v>145</c:v>
                </c:pt>
                <c:pt idx="169">
                  <c:v>137</c:v>
                </c:pt>
                <c:pt idx="170">
                  <c:v>145.9</c:v>
                </c:pt>
                <c:pt idx="171">
                  <c:v>142.30000000000001</c:v>
                </c:pt>
                <c:pt idx="172">
                  <c:v>181.6</c:v>
                </c:pt>
                <c:pt idx="173">
                  <c:v>178</c:v>
                </c:pt>
                <c:pt idx="174">
                  <c:v>161.6</c:v>
                </c:pt>
                <c:pt idx="175">
                  <c:v>156</c:v>
                </c:pt>
                <c:pt idx="176">
                  <c:v>165.3</c:v>
                </c:pt>
                <c:pt idx="177">
                  <c:v>191.1</c:v>
                </c:pt>
                <c:pt idx="178">
                  <c:v>184.2</c:v>
                </c:pt>
                <c:pt idx="179">
                  <c:v>159.1</c:v>
                </c:pt>
                <c:pt idx="180">
                  <c:v>209.8</c:v>
                </c:pt>
                <c:pt idx="181">
                  <c:v>178.3</c:v>
                </c:pt>
                <c:pt idx="182">
                  <c:v>209.5</c:v>
                </c:pt>
                <c:pt idx="183">
                  <c:v>199.1</c:v>
                </c:pt>
                <c:pt idx="184">
                  <c:v>192</c:v>
                </c:pt>
                <c:pt idx="185">
                  <c:v>176.5</c:v>
                </c:pt>
                <c:pt idx="186">
                  <c:v>179.8</c:v>
                </c:pt>
                <c:pt idx="187">
                  <c:v>172.8</c:v>
                </c:pt>
                <c:pt idx="188">
                  <c:v>172.2</c:v>
                </c:pt>
                <c:pt idx="189">
                  <c:v>168.9</c:v>
                </c:pt>
                <c:pt idx="190">
                  <c:v>152.1</c:v>
                </c:pt>
                <c:pt idx="191">
                  <c:v>171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13-41EA-83B4-9F1ED1D762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Spike line (180)</c:v>
                </c:pt>
              </c:strCache>
            </c:strRef>
          </c:tx>
          <c:spPr>
            <a:ln w="31750" cap="flat">
              <a:solidFill>
                <a:srgbClr val="7FA99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Sheet1!$A$2:$A$193</c:f>
              <c:strCache>
                <c:ptCount val="192"/>
                <c:pt idx="0">
                  <c:v>08-19 22:00</c:v>
                </c:pt>
                <c:pt idx="1">
                  <c:v> </c:v>
                </c:pt>
                <c:pt idx="2">
                  <c:v> </c:v>
                </c:pt>
                <c:pt idx="3">
                  <c:v> </c:v>
                </c:pt>
                <c:pt idx="4">
                  <c:v> </c:v>
                </c:pt>
                <c:pt idx="5">
                  <c:v> </c:v>
                </c:pt>
                <c:pt idx="6">
                  <c:v> </c:v>
                </c:pt>
                <c:pt idx="7">
                  <c:v> </c:v>
                </c:pt>
                <c:pt idx="8">
                  <c:v> </c:v>
                </c:pt>
                <c:pt idx="9">
                  <c:v> </c:v>
                </c:pt>
                <c:pt idx="10">
                  <c:v> </c:v>
                </c:pt>
                <c:pt idx="11">
                  <c:v> </c:v>
                </c:pt>
                <c:pt idx="12">
                  <c:v> </c:v>
                </c:pt>
                <c:pt idx="13">
                  <c:v> </c:v>
                </c:pt>
                <c:pt idx="14">
                  <c:v> </c:v>
                </c:pt>
                <c:pt idx="15">
                  <c:v> </c:v>
                </c:pt>
                <c:pt idx="16">
                  <c:v> </c:v>
                </c:pt>
                <c:pt idx="17">
                  <c:v> </c:v>
                </c:pt>
                <c:pt idx="18">
                  <c:v> </c:v>
                </c:pt>
                <c:pt idx="19">
                  <c:v> </c:v>
                </c:pt>
                <c:pt idx="20">
                  <c:v> </c:v>
                </c:pt>
                <c:pt idx="21">
                  <c:v> </c:v>
                </c:pt>
                <c:pt idx="22">
                  <c:v> </c:v>
                </c:pt>
                <c:pt idx="23">
                  <c:v> </c:v>
                </c:pt>
                <c:pt idx="24">
                  <c:v> </c:v>
                </c:pt>
                <c:pt idx="25">
                  <c:v> </c:v>
                </c:pt>
                <c:pt idx="26">
                  <c:v> </c:v>
                </c:pt>
                <c:pt idx="27">
                  <c:v> </c:v>
                </c:pt>
                <c:pt idx="28">
                  <c:v> </c:v>
                </c:pt>
                <c:pt idx="29">
                  <c:v> </c:v>
                </c:pt>
                <c:pt idx="30">
                  <c:v> </c:v>
                </c:pt>
                <c:pt idx="31">
                  <c:v> </c:v>
                </c:pt>
                <c:pt idx="32">
                  <c:v>08-20 06:00</c:v>
                </c:pt>
                <c:pt idx="33">
                  <c:v> </c:v>
                </c:pt>
                <c:pt idx="34">
                  <c:v> </c:v>
                </c:pt>
                <c:pt idx="35">
                  <c:v> </c:v>
                </c:pt>
                <c:pt idx="36">
                  <c:v> </c:v>
                </c:pt>
                <c:pt idx="37">
                  <c:v> </c:v>
                </c:pt>
                <c:pt idx="38">
                  <c:v> </c:v>
                </c:pt>
                <c:pt idx="39">
                  <c:v> </c:v>
                </c:pt>
                <c:pt idx="40">
                  <c:v> </c:v>
                </c:pt>
                <c:pt idx="41">
                  <c:v> </c:v>
                </c:pt>
                <c:pt idx="42">
                  <c:v> </c:v>
                </c:pt>
                <c:pt idx="43">
                  <c:v> </c:v>
                </c:pt>
                <c:pt idx="44">
                  <c:v> </c:v>
                </c:pt>
                <c:pt idx="45">
                  <c:v> </c:v>
                </c:pt>
                <c:pt idx="46">
                  <c:v> </c:v>
                </c:pt>
                <c:pt idx="47">
                  <c:v> </c:v>
                </c:pt>
                <c:pt idx="48">
                  <c:v> </c:v>
                </c:pt>
                <c:pt idx="49">
                  <c:v> </c:v>
                </c:pt>
                <c:pt idx="50">
                  <c:v> </c:v>
                </c:pt>
                <c:pt idx="51">
                  <c:v> </c:v>
                </c:pt>
                <c:pt idx="52">
                  <c:v> </c:v>
                </c:pt>
                <c:pt idx="53">
                  <c:v> </c:v>
                </c:pt>
                <c:pt idx="54">
                  <c:v> </c:v>
                </c:pt>
                <c:pt idx="55">
                  <c:v> </c:v>
                </c:pt>
                <c:pt idx="56">
                  <c:v> </c:v>
                </c:pt>
                <c:pt idx="57">
                  <c:v> </c:v>
                </c:pt>
                <c:pt idx="58">
                  <c:v> </c:v>
                </c:pt>
                <c:pt idx="59">
                  <c:v> </c:v>
                </c:pt>
                <c:pt idx="60">
                  <c:v> </c:v>
                </c:pt>
                <c:pt idx="61">
                  <c:v> </c:v>
                </c:pt>
                <c:pt idx="62">
                  <c:v> </c:v>
                </c:pt>
                <c:pt idx="63">
                  <c:v> </c:v>
                </c:pt>
                <c:pt idx="64">
                  <c:v>08-20 14:00</c:v>
                </c:pt>
                <c:pt idx="65">
                  <c:v> </c:v>
                </c:pt>
                <c:pt idx="66">
                  <c:v> </c:v>
                </c:pt>
                <c:pt idx="67">
                  <c:v> </c:v>
                </c:pt>
                <c:pt idx="68">
                  <c:v> </c:v>
                </c:pt>
                <c:pt idx="69">
                  <c:v> </c:v>
                </c:pt>
                <c:pt idx="70">
                  <c:v> </c:v>
                </c:pt>
                <c:pt idx="71">
                  <c:v> </c:v>
                </c:pt>
                <c:pt idx="72">
                  <c:v> </c:v>
                </c:pt>
                <c:pt idx="73">
                  <c:v> </c:v>
                </c:pt>
                <c:pt idx="74">
                  <c:v> </c:v>
                </c:pt>
                <c:pt idx="75">
                  <c:v> </c:v>
                </c:pt>
                <c:pt idx="76">
                  <c:v> </c:v>
                </c:pt>
                <c:pt idx="77">
                  <c:v> </c:v>
                </c:pt>
                <c:pt idx="78">
                  <c:v> </c:v>
                </c:pt>
                <c:pt idx="79">
                  <c:v> </c:v>
                </c:pt>
                <c:pt idx="80">
                  <c:v> </c:v>
                </c:pt>
                <c:pt idx="81">
                  <c:v> </c:v>
                </c:pt>
                <c:pt idx="82">
                  <c:v> </c:v>
                </c:pt>
                <c:pt idx="83">
                  <c:v> </c:v>
                </c:pt>
                <c:pt idx="84">
                  <c:v> </c:v>
                </c:pt>
                <c:pt idx="85">
                  <c:v> </c:v>
                </c:pt>
                <c:pt idx="86">
                  <c:v> </c:v>
                </c:pt>
                <c:pt idx="87">
                  <c:v> </c:v>
                </c:pt>
                <c:pt idx="88">
                  <c:v> </c:v>
                </c:pt>
                <c:pt idx="89">
                  <c:v> </c:v>
                </c:pt>
                <c:pt idx="90">
                  <c:v> </c:v>
                </c:pt>
                <c:pt idx="91">
                  <c:v> </c:v>
                </c:pt>
                <c:pt idx="92">
                  <c:v> </c:v>
                </c:pt>
                <c:pt idx="93">
                  <c:v> </c:v>
                </c:pt>
                <c:pt idx="94">
                  <c:v> </c:v>
                </c:pt>
                <c:pt idx="95">
                  <c:v> </c:v>
                </c:pt>
                <c:pt idx="96">
                  <c:v>08-20 22:00</c:v>
                </c:pt>
                <c:pt idx="97">
                  <c:v> </c:v>
                </c:pt>
                <c:pt idx="98">
                  <c:v> </c:v>
                </c:pt>
                <c:pt idx="99">
                  <c:v> </c:v>
                </c:pt>
                <c:pt idx="100">
                  <c:v> </c:v>
                </c:pt>
                <c:pt idx="101">
                  <c:v> </c:v>
                </c:pt>
                <c:pt idx="102">
                  <c:v> </c:v>
                </c:pt>
                <c:pt idx="103">
                  <c:v> </c:v>
                </c:pt>
                <c:pt idx="104">
                  <c:v> </c:v>
                </c:pt>
                <c:pt idx="105">
                  <c:v> </c:v>
                </c:pt>
                <c:pt idx="106">
                  <c:v> </c:v>
                </c:pt>
                <c:pt idx="107">
                  <c:v> </c:v>
                </c:pt>
                <c:pt idx="108">
                  <c:v> </c:v>
                </c:pt>
                <c:pt idx="109">
                  <c:v> </c:v>
                </c:pt>
                <c:pt idx="110">
                  <c:v> </c:v>
                </c:pt>
                <c:pt idx="111">
                  <c:v> </c:v>
                </c:pt>
                <c:pt idx="112">
                  <c:v> </c:v>
                </c:pt>
                <c:pt idx="113">
                  <c:v> </c:v>
                </c:pt>
                <c:pt idx="114">
                  <c:v> </c:v>
                </c:pt>
                <c:pt idx="115">
                  <c:v> </c:v>
                </c:pt>
                <c:pt idx="116">
                  <c:v> </c:v>
                </c:pt>
                <c:pt idx="117">
                  <c:v> </c:v>
                </c:pt>
                <c:pt idx="118">
                  <c:v> </c:v>
                </c:pt>
                <c:pt idx="119">
                  <c:v> </c:v>
                </c:pt>
                <c:pt idx="120">
                  <c:v> </c:v>
                </c:pt>
                <c:pt idx="121">
                  <c:v> </c:v>
                </c:pt>
                <c:pt idx="122">
                  <c:v> </c:v>
                </c:pt>
                <c:pt idx="123">
                  <c:v> </c:v>
                </c:pt>
                <c:pt idx="124">
                  <c:v> </c:v>
                </c:pt>
                <c:pt idx="125">
                  <c:v> </c:v>
                </c:pt>
                <c:pt idx="126">
                  <c:v> </c:v>
                </c:pt>
                <c:pt idx="127">
                  <c:v> </c:v>
                </c:pt>
                <c:pt idx="128">
                  <c:v>08-21 06:00</c:v>
                </c:pt>
                <c:pt idx="129">
                  <c:v> </c:v>
                </c:pt>
                <c:pt idx="130">
                  <c:v> </c:v>
                </c:pt>
                <c:pt idx="131">
                  <c:v> </c:v>
                </c:pt>
                <c:pt idx="132">
                  <c:v> </c:v>
                </c:pt>
                <c:pt idx="133">
                  <c:v> </c:v>
                </c:pt>
                <c:pt idx="134">
                  <c:v> </c:v>
                </c:pt>
                <c:pt idx="135">
                  <c:v> </c:v>
                </c:pt>
                <c:pt idx="136">
                  <c:v> </c:v>
                </c:pt>
                <c:pt idx="137">
                  <c:v> </c:v>
                </c:pt>
                <c:pt idx="138">
                  <c:v> </c:v>
                </c:pt>
                <c:pt idx="139">
                  <c:v> </c:v>
                </c:pt>
                <c:pt idx="140">
                  <c:v> </c:v>
                </c:pt>
                <c:pt idx="141">
                  <c:v> </c:v>
                </c:pt>
                <c:pt idx="142">
                  <c:v> </c:v>
                </c:pt>
                <c:pt idx="143">
                  <c:v> </c:v>
                </c:pt>
                <c:pt idx="144">
                  <c:v> </c:v>
                </c:pt>
                <c:pt idx="145">
                  <c:v> </c:v>
                </c:pt>
                <c:pt idx="146">
                  <c:v> </c:v>
                </c:pt>
                <c:pt idx="147">
                  <c:v> </c:v>
                </c:pt>
                <c:pt idx="148">
                  <c:v> </c:v>
                </c:pt>
                <c:pt idx="149">
                  <c:v> </c:v>
                </c:pt>
                <c:pt idx="150">
                  <c:v> </c:v>
                </c:pt>
                <c:pt idx="151">
                  <c:v> </c:v>
                </c:pt>
                <c:pt idx="152">
                  <c:v> </c:v>
                </c:pt>
                <c:pt idx="153">
                  <c:v> </c:v>
                </c:pt>
                <c:pt idx="154">
                  <c:v> </c:v>
                </c:pt>
                <c:pt idx="155">
                  <c:v> </c:v>
                </c:pt>
                <c:pt idx="156">
                  <c:v> </c:v>
                </c:pt>
                <c:pt idx="157">
                  <c:v> </c:v>
                </c:pt>
                <c:pt idx="158">
                  <c:v> </c:v>
                </c:pt>
                <c:pt idx="159">
                  <c:v> </c:v>
                </c:pt>
                <c:pt idx="160">
                  <c:v>08-21 14:00</c:v>
                </c:pt>
                <c:pt idx="161">
                  <c:v> </c:v>
                </c:pt>
                <c:pt idx="162">
                  <c:v> </c:v>
                </c:pt>
                <c:pt idx="163">
                  <c:v> </c:v>
                </c:pt>
                <c:pt idx="164">
                  <c:v> </c:v>
                </c:pt>
                <c:pt idx="165">
                  <c:v> </c:v>
                </c:pt>
                <c:pt idx="166">
                  <c:v> </c:v>
                </c:pt>
                <c:pt idx="167">
                  <c:v> </c:v>
                </c:pt>
                <c:pt idx="168">
                  <c:v> </c:v>
                </c:pt>
                <c:pt idx="169">
                  <c:v> </c:v>
                </c:pt>
                <c:pt idx="170">
                  <c:v> </c:v>
                </c:pt>
                <c:pt idx="171">
                  <c:v> </c:v>
                </c:pt>
                <c:pt idx="172">
                  <c:v> </c:v>
                </c:pt>
                <c:pt idx="173">
                  <c:v> </c:v>
                </c:pt>
                <c:pt idx="174">
                  <c:v> </c:v>
                </c:pt>
                <c:pt idx="175">
                  <c:v> </c:v>
                </c:pt>
                <c:pt idx="176">
                  <c:v> </c:v>
                </c:pt>
                <c:pt idx="177">
                  <c:v> </c:v>
                </c:pt>
                <c:pt idx="178">
                  <c:v> </c:v>
                </c:pt>
                <c:pt idx="179">
                  <c:v> </c:v>
                </c:pt>
                <c:pt idx="180">
                  <c:v> </c:v>
                </c:pt>
                <c:pt idx="181">
                  <c:v> </c:v>
                </c:pt>
                <c:pt idx="182">
                  <c:v> </c:v>
                </c:pt>
                <c:pt idx="183">
                  <c:v> </c:v>
                </c:pt>
                <c:pt idx="184">
                  <c:v> </c:v>
                </c:pt>
                <c:pt idx="185">
                  <c:v> </c:v>
                </c:pt>
                <c:pt idx="186">
                  <c:v> </c:v>
                </c:pt>
                <c:pt idx="187">
                  <c:v> </c:v>
                </c:pt>
                <c:pt idx="188">
                  <c:v> </c:v>
                </c:pt>
                <c:pt idx="189">
                  <c:v> </c:v>
                </c:pt>
                <c:pt idx="190">
                  <c:v> </c:v>
                </c:pt>
                <c:pt idx="191">
                  <c:v> </c:v>
                </c:pt>
              </c:strCache>
            </c:strRef>
          </c:cat>
          <c:val>
            <c:numRef>
              <c:f>Sheet1!$C$2:$C$193</c:f>
              <c:numCache>
                <c:formatCode>General</c:formatCode>
                <c:ptCount val="192"/>
                <c:pt idx="0">
                  <c:v>180</c:v>
                </c:pt>
                <c:pt idx="1">
                  <c:v>180</c:v>
                </c:pt>
                <c:pt idx="2">
                  <c:v>180</c:v>
                </c:pt>
                <c:pt idx="3">
                  <c:v>180</c:v>
                </c:pt>
                <c:pt idx="4">
                  <c:v>180</c:v>
                </c:pt>
                <c:pt idx="5">
                  <c:v>180</c:v>
                </c:pt>
                <c:pt idx="6">
                  <c:v>180</c:v>
                </c:pt>
                <c:pt idx="7">
                  <c:v>180</c:v>
                </c:pt>
                <c:pt idx="8">
                  <c:v>180</c:v>
                </c:pt>
                <c:pt idx="9">
                  <c:v>180</c:v>
                </c:pt>
                <c:pt idx="10">
                  <c:v>180</c:v>
                </c:pt>
                <c:pt idx="11">
                  <c:v>180</c:v>
                </c:pt>
                <c:pt idx="12">
                  <c:v>180</c:v>
                </c:pt>
                <c:pt idx="13">
                  <c:v>180</c:v>
                </c:pt>
                <c:pt idx="14">
                  <c:v>180</c:v>
                </c:pt>
                <c:pt idx="15">
                  <c:v>180</c:v>
                </c:pt>
                <c:pt idx="16">
                  <c:v>180</c:v>
                </c:pt>
                <c:pt idx="17">
                  <c:v>180</c:v>
                </c:pt>
                <c:pt idx="18">
                  <c:v>180</c:v>
                </c:pt>
                <c:pt idx="19">
                  <c:v>180</c:v>
                </c:pt>
                <c:pt idx="20">
                  <c:v>180</c:v>
                </c:pt>
                <c:pt idx="21">
                  <c:v>180</c:v>
                </c:pt>
                <c:pt idx="22">
                  <c:v>180</c:v>
                </c:pt>
                <c:pt idx="23">
                  <c:v>180</c:v>
                </c:pt>
                <c:pt idx="24">
                  <c:v>180</c:v>
                </c:pt>
                <c:pt idx="25">
                  <c:v>180</c:v>
                </c:pt>
                <c:pt idx="26">
                  <c:v>180</c:v>
                </c:pt>
                <c:pt idx="27">
                  <c:v>180</c:v>
                </c:pt>
                <c:pt idx="28">
                  <c:v>180</c:v>
                </c:pt>
                <c:pt idx="29">
                  <c:v>180</c:v>
                </c:pt>
                <c:pt idx="30">
                  <c:v>180</c:v>
                </c:pt>
                <c:pt idx="31">
                  <c:v>180</c:v>
                </c:pt>
                <c:pt idx="32">
                  <c:v>180</c:v>
                </c:pt>
                <c:pt idx="33">
                  <c:v>180</c:v>
                </c:pt>
                <c:pt idx="34">
                  <c:v>180</c:v>
                </c:pt>
                <c:pt idx="35">
                  <c:v>180</c:v>
                </c:pt>
                <c:pt idx="36">
                  <c:v>180</c:v>
                </c:pt>
                <c:pt idx="37">
                  <c:v>180</c:v>
                </c:pt>
                <c:pt idx="38">
                  <c:v>180</c:v>
                </c:pt>
                <c:pt idx="39">
                  <c:v>180</c:v>
                </c:pt>
                <c:pt idx="40">
                  <c:v>180</c:v>
                </c:pt>
                <c:pt idx="41">
                  <c:v>180</c:v>
                </c:pt>
                <c:pt idx="42">
                  <c:v>180</c:v>
                </c:pt>
                <c:pt idx="43">
                  <c:v>180</c:v>
                </c:pt>
                <c:pt idx="44">
                  <c:v>180</c:v>
                </c:pt>
                <c:pt idx="45">
                  <c:v>180</c:v>
                </c:pt>
                <c:pt idx="46">
                  <c:v>180</c:v>
                </c:pt>
                <c:pt idx="47">
                  <c:v>180</c:v>
                </c:pt>
                <c:pt idx="48">
                  <c:v>180</c:v>
                </c:pt>
                <c:pt idx="49">
                  <c:v>180</c:v>
                </c:pt>
                <c:pt idx="50">
                  <c:v>180</c:v>
                </c:pt>
                <c:pt idx="51">
                  <c:v>180</c:v>
                </c:pt>
                <c:pt idx="52">
                  <c:v>180</c:v>
                </c:pt>
                <c:pt idx="53">
                  <c:v>180</c:v>
                </c:pt>
                <c:pt idx="54">
                  <c:v>180</c:v>
                </c:pt>
                <c:pt idx="55">
                  <c:v>180</c:v>
                </c:pt>
                <c:pt idx="56">
                  <c:v>180</c:v>
                </c:pt>
                <c:pt idx="57">
                  <c:v>180</c:v>
                </c:pt>
                <c:pt idx="58">
                  <c:v>180</c:v>
                </c:pt>
                <c:pt idx="59">
                  <c:v>180</c:v>
                </c:pt>
                <c:pt idx="60">
                  <c:v>180</c:v>
                </c:pt>
                <c:pt idx="61">
                  <c:v>180</c:v>
                </c:pt>
                <c:pt idx="62">
                  <c:v>180</c:v>
                </c:pt>
                <c:pt idx="63">
                  <c:v>180</c:v>
                </c:pt>
                <c:pt idx="64">
                  <c:v>180</c:v>
                </c:pt>
                <c:pt idx="65">
                  <c:v>180</c:v>
                </c:pt>
                <c:pt idx="66">
                  <c:v>180</c:v>
                </c:pt>
                <c:pt idx="67">
                  <c:v>180</c:v>
                </c:pt>
                <c:pt idx="68">
                  <c:v>180</c:v>
                </c:pt>
                <c:pt idx="69">
                  <c:v>180</c:v>
                </c:pt>
                <c:pt idx="70">
                  <c:v>180</c:v>
                </c:pt>
                <c:pt idx="71">
                  <c:v>180</c:v>
                </c:pt>
                <c:pt idx="72">
                  <c:v>180</c:v>
                </c:pt>
                <c:pt idx="73">
                  <c:v>180</c:v>
                </c:pt>
                <c:pt idx="74">
                  <c:v>180</c:v>
                </c:pt>
                <c:pt idx="75">
                  <c:v>180</c:v>
                </c:pt>
                <c:pt idx="76">
                  <c:v>180</c:v>
                </c:pt>
                <c:pt idx="77">
                  <c:v>180</c:v>
                </c:pt>
                <c:pt idx="78">
                  <c:v>180</c:v>
                </c:pt>
                <c:pt idx="79">
                  <c:v>180</c:v>
                </c:pt>
                <c:pt idx="80">
                  <c:v>180</c:v>
                </c:pt>
                <c:pt idx="81">
                  <c:v>180</c:v>
                </c:pt>
                <c:pt idx="82">
                  <c:v>180</c:v>
                </c:pt>
                <c:pt idx="83">
                  <c:v>180</c:v>
                </c:pt>
                <c:pt idx="84">
                  <c:v>180</c:v>
                </c:pt>
                <c:pt idx="85">
                  <c:v>180</c:v>
                </c:pt>
                <c:pt idx="86">
                  <c:v>180</c:v>
                </c:pt>
                <c:pt idx="87">
                  <c:v>180</c:v>
                </c:pt>
                <c:pt idx="88">
                  <c:v>180</c:v>
                </c:pt>
                <c:pt idx="89">
                  <c:v>180</c:v>
                </c:pt>
                <c:pt idx="90">
                  <c:v>180</c:v>
                </c:pt>
                <c:pt idx="91">
                  <c:v>180</c:v>
                </c:pt>
                <c:pt idx="92">
                  <c:v>180</c:v>
                </c:pt>
                <c:pt idx="93">
                  <c:v>180</c:v>
                </c:pt>
                <c:pt idx="94">
                  <c:v>180</c:v>
                </c:pt>
                <c:pt idx="95">
                  <c:v>180</c:v>
                </c:pt>
                <c:pt idx="96">
                  <c:v>180</c:v>
                </c:pt>
                <c:pt idx="97">
                  <c:v>180</c:v>
                </c:pt>
                <c:pt idx="98">
                  <c:v>180</c:v>
                </c:pt>
                <c:pt idx="99">
                  <c:v>180</c:v>
                </c:pt>
                <c:pt idx="100">
                  <c:v>180</c:v>
                </c:pt>
                <c:pt idx="101">
                  <c:v>180</c:v>
                </c:pt>
                <c:pt idx="102">
                  <c:v>180</c:v>
                </c:pt>
                <c:pt idx="103">
                  <c:v>180</c:v>
                </c:pt>
                <c:pt idx="104">
                  <c:v>180</c:v>
                </c:pt>
                <c:pt idx="105">
                  <c:v>180</c:v>
                </c:pt>
                <c:pt idx="106">
                  <c:v>180</c:v>
                </c:pt>
                <c:pt idx="107">
                  <c:v>180</c:v>
                </c:pt>
                <c:pt idx="108">
                  <c:v>180</c:v>
                </c:pt>
                <c:pt idx="109">
                  <c:v>180</c:v>
                </c:pt>
                <c:pt idx="110">
                  <c:v>180</c:v>
                </c:pt>
                <c:pt idx="111">
                  <c:v>180</c:v>
                </c:pt>
                <c:pt idx="112">
                  <c:v>180</c:v>
                </c:pt>
                <c:pt idx="113">
                  <c:v>180</c:v>
                </c:pt>
                <c:pt idx="114">
                  <c:v>180</c:v>
                </c:pt>
                <c:pt idx="115">
                  <c:v>180</c:v>
                </c:pt>
                <c:pt idx="116">
                  <c:v>180</c:v>
                </c:pt>
                <c:pt idx="117">
                  <c:v>180</c:v>
                </c:pt>
                <c:pt idx="118">
                  <c:v>180</c:v>
                </c:pt>
                <c:pt idx="119">
                  <c:v>180</c:v>
                </c:pt>
                <c:pt idx="120">
                  <c:v>180</c:v>
                </c:pt>
                <c:pt idx="121">
                  <c:v>180</c:v>
                </c:pt>
                <c:pt idx="122">
                  <c:v>180</c:v>
                </c:pt>
                <c:pt idx="123">
                  <c:v>180</c:v>
                </c:pt>
                <c:pt idx="124">
                  <c:v>180</c:v>
                </c:pt>
                <c:pt idx="125">
                  <c:v>180</c:v>
                </c:pt>
                <c:pt idx="126">
                  <c:v>180</c:v>
                </c:pt>
                <c:pt idx="127">
                  <c:v>180</c:v>
                </c:pt>
                <c:pt idx="128">
                  <c:v>180</c:v>
                </c:pt>
                <c:pt idx="129">
                  <c:v>180</c:v>
                </c:pt>
                <c:pt idx="130">
                  <c:v>180</c:v>
                </c:pt>
                <c:pt idx="131">
                  <c:v>180</c:v>
                </c:pt>
                <c:pt idx="132">
                  <c:v>180</c:v>
                </c:pt>
                <c:pt idx="133">
                  <c:v>180</c:v>
                </c:pt>
                <c:pt idx="134">
                  <c:v>180</c:v>
                </c:pt>
                <c:pt idx="135">
                  <c:v>180</c:v>
                </c:pt>
                <c:pt idx="136">
                  <c:v>180</c:v>
                </c:pt>
                <c:pt idx="137">
                  <c:v>180</c:v>
                </c:pt>
                <c:pt idx="138">
                  <c:v>180</c:v>
                </c:pt>
                <c:pt idx="139">
                  <c:v>180</c:v>
                </c:pt>
                <c:pt idx="140">
                  <c:v>180</c:v>
                </c:pt>
                <c:pt idx="141">
                  <c:v>180</c:v>
                </c:pt>
                <c:pt idx="142">
                  <c:v>180</c:v>
                </c:pt>
                <c:pt idx="143">
                  <c:v>180</c:v>
                </c:pt>
                <c:pt idx="144">
                  <c:v>180</c:v>
                </c:pt>
                <c:pt idx="145">
                  <c:v>180</c:v>
                </c:pt>
                <c:pt idx="146">
                  <c:v>180</c:v>
                </c:pt>
                <c:pt idx="147">
                  <c:v>180</c:v>
                </c:pt>
                <c:pt idx="148">
                  <c:v>180</c:v>
                </c:pt>
                <c:pt idx="149">
                  <c:v>180</c:v>
                </c:pt>
                <c:pt idx="150">
                  <c:v>180</c:v>
                </c:pt>
                <c:pt idx="151">
                  <c:v>180</c:v>
                </c:pt>
                <c:pt idx="152">
                  <c:v>180</c:v>
                </c:pt>
                <c:pt idx="153">
                  <c:v>180</c:v>
                </c:pt>
                <c:pt idx="154">
                  <c:v>180</c:v>
                </c:pt>
                <c:pt idx="155">
                  <c:v>180</c:v>
                </c:pt>
                <c:pt idx="156">
                  <c:v>180</c:v>
                </c:pt>
                <c:pt idx="157">
                  <c:v>180</c:v>
                </c:pt>
                <c:pt idx="158">
                  <c:v>180</c:v>
                </c:pt>
                <c:pt idx="159">
                  <c:v>180</c:v>
                </c:pt>
                <c:pt idx="160">
                  <c:v>180</c:v>
                </c:pt>
                <c:pt idx="161">
                  <c:v>180</c:v>
                </c:pt>
                <c:pt idx="162">
                  <c:v>180</c:v>
                </c:pt>
                <c:pt idx="163">
                  <c:v>180</c:v>
                </c:pt>
                <c:pt idx="164">
                  <c:v>180</c:v>
                </c:pt>
                <c:pt idx="165">
                  <c:v>180</c:v>
                </c:pt>
                <c:pt idx="166">
                  <c:v>180</c:v>
                </c:pt>
                <c:pt idx="167">
                  <c:v>180</c:v>
                </c:pt>
                <c:pt idx="168">
                  <c:v>180</c:v>
                </c:pt>
                <c:pt idx="169">
                  <c:v>180</c:v>
                </c:pt>
                <c:pt idx="170">
                  <c:v>180</c:v>
                </c:pt>
                <c:pt idx="171">
                  <c:v>180</c:v>
                </c:pt>
                <c:pt idx="172">
                  <c:v>180</c:v>
                </c:pt>
                <c:pt idx="173">
                  <c:v>180</c:v>
                </c:pt>
                <c:pt idx="174">
                  <c:v>180</c:v>
                </c:pt>
                <c:pt idx="175">
                  <c:v>180</c:v>
                </c:pt>
                <c:pt idx="176">
                  <c:v>180</c:v>
                </c:pt>
                <c:pt idx="177">
                  <c:v>180</c:v>
                </c:pt>
                <c:pt idx="178">
                  <c:v>180</c:v>
                </c:pt>
                <c:pt idx="179">
                  <c:v>180</c:v>
                </c:pt>
                <c:pt idx="180">
                  <c:v>180</c:v>
                </c:pt>
                <c:pt idx="181">
                  <c:v>180</c:v>
                </c:pt>
                <c:pt idx="182">
                  <c:v>180</c:v>
                </c:pt>
                <c:pt idx="183">
                  <c:v>180</c:v>
                </c:pt>
                <c:pt idx="184">
                  <c:v>180</c:v>
                </c:pt>
                <c:pt idx="185">
                  <c:v>180</c:v>
                </c:pt>
                <c:pt idx="186">
                  <c:v>180</c:v>
                </c:pt>
                <c:pt idx="187">
                  <c:v>180</c:v>
                </c:pt>
                <c:pt idx="188">
                  <c:v>180</c:v>
                </c:pt>
                <c:pt idx="189">
                  <c:v>180</c:v>
                </c:pt>
                <c:pt idx="190">
                  <c:v>180</c:v>
                </c:pt>
                <c:pt idx="191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13-41EA-83B4-9F1ED1D762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C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2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C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E2A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728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20040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Digital Twin PoC  |  Predictive glucose-spike alert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Digital Twin PoC  |  Predictive glucose-spike alert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 digital twin that warns of glucose spikes early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 smtClean="0">
                <a:solidFill>
                  <a:schemeClr val="accent6"/>
                </a:solidFill>
              </a:rPr>
              <a:t>Phase-1 proof </a:t>
            </a:r>
            <a:r>
              <a:rPr lang="en-US" sz="1800" dirty="0">
                <a:solidFill>
                  <a:schemeClr val="accent6"/>
                </a:solidFill>
              </a:rPr>
              <a:t>of concept: clinic records plus wearable data, two hours of notice. Built for the Happiest Health Digital Twin Challenge.</a:t>
            </a:r>
            <a:endParaRPr lang="en-US" sz="1800" dirty="0"/>
          </a:p>
        </p:txBody>
      </p:sp>
      <p:pic>
        <p:nvPicPr>
          <p:cNvPr id="4" name="Image 0" descr="48-hour glucose trace of a demo patient with the 180 mg/dL line and an alert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25880"/>
            <a:ext cx="493776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7512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6"/>
                </a:solidFill>
              </a:rPr>
              <a:t>One demo patient, 48 hours of glucose. Dashed line = 180 mg/dL. Yellow ring = model alert. Synthetic data.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Join who the patient is with what is happening now</a:t>
            </a:r>
            <a:endParaRPr lang="en-US" sz="3400" dirty="0"/>
          </a:p>
        </p:txBody>
      </p:sp>
      <p:sp>
        <p:nvSpPr>
          <p:cNvPr id="3" name="card Clinic record (EHR)"/>
          <p:cNvSpPr/>
          <p:nvPr/>
        </p:nvSpPr>
        <p:spPr>
          <a:xfrm>
            <a:off x="54864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Clinic record (EHR)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linic record (EHR)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record (EHR)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Who the patient is: age, BMI, HbA1c, kidney function, genetic risk markers</a:t>
            </a:r>
            <a:endParaRPr lang="en-US" sz="1600" dirty="0"/>
          </a:p>
        </p:txBody>
      </p:sp>
      <p:sp>
        <p:nvSpPr>
          <p:cNvPr id="8" name="card Wearable stream"/>
          <p:cNvSpPr/>
          <p:nvPr/>
        </p:nvSpPr>
        <p:spPr>
          <a:xfrm>
            <a:off x="434340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9" name="Wearable stream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Wearable strea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21259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stream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What is happening now: glucose, heart rate, heart-rate variability, sleep, steps</a:t>
            </a:r>
            <a:endParaRPr lang="en-US" sz="1600" dirty="0"/>
          </a:p>
        </p:txBody>
      </p:sp>
      <p:sp>
        <p:nvSpPr>
          <p:cNvPr id="13" name="card Early warning"/>
          <p:cNvSpPr/>
          <p:nvPr/>
        </p:nvSpPr>
        <p:spPr>
          <a:xfrm>
            <a:off x="813816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4" name="Early warning"/>
          <p:cNvSpPr/>
          <p:nvPr/>
        </p:nvSpPr>
        <p:spPr>
          <a:xfrm>
            <a:off x="845820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Early warn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21259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An alert about 2 hours before glucose goes above 180 or climbs fast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97764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=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5"/>
                </a:solidFill>
              </a:rPr>
              <a:t>The twin is a model of one patient that updates with every new reading and forecasts what comes next.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project works, from raw data to dashboard</a:t>
            </a:r>
            <a:endParaRPr lang="en-US" sz="3400" dirty="0"/>
          </a:p>
        </p:txBody>
      </p:sp>
      <p:sp>
        <p:nvSpPr>
          <p:cNvPr id="3" name="step Generate data"/>
          <p:cNvSpPr/>
          <p:nvPr/>
        </p:nvSpPr>
        <p:spPr>
          <a:xfrm>
            <a:off x="548640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data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Synthetic clinic records and wearable streams for 500 patients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000" dirty="0"/>
          </a:p>
        </p:txBody>
      </p:sp>
      <p:sp>
        <p:nvSpPr>
          <p:cNvPr id="9" name="step Build features"/>
          <p:cNvSpPr/>
          <p:nvPr/>
        </p:nvSpPr>
        <p:spPr>
          <a:xfrm>
            <a:off x="2798064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10" name="step 2"/>
          <p:cNvSpPr/>
          <p:nvPr/>
        </p:nvSpPr>
        <p:spPr>
          <a:xfrm>
            <a:off x="3026664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2666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features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Trailing windows only, so nothing from the future leaks in. Label: spike in next 2 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feature_engineering</a:t>
            </a:r>
            <a:endParaRPr lang="en-US" sz="1000" dirty="0"/>
          </a:p>
        </p:txBody>
      </p:sp>
      <p:sp>
        <p:nvSpPr>
          <p:cNvPr id="15" name="step Train and test"/>
          <p:cNvSpPr/>
          <p:nvPr/>
        </p:nvSpPr>
        <p:spPr>
          <a:xfrm>
            <a:off x="5047488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16" name="step 3"/>
          <p:cNvSpPr/>
          <p:nvPr/>
        </p:nvSpPr>
        <p:spPr>
          <a:xfrm>
            <a:off x="527608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7608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test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76088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Gradient-boosted model, scored with patient-grouped cross-validation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train_model</a:t>
            </a:r>
            <a:endParaRPr lang="en-US" sz="1000" dirty="0"/>
          </a:p>
        </p:txBody>
      </p:sp>
      <p:sp>
        <p:nvSpPr>
          <p:cNvPr id="21" name="step Export results"/>
          <p:cNvSpPr/>
          <p:nvPr/>
        </p:nvSpPr>
        <p:spPr>
          <a:xfrm>
            <a:off x="7296912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2" name="step 4"/>
          <p:cNvSpPr/>
          <p:nvPr/>
        </p:nvSpPr>
        <p:spPr>
          <a:xfrm>
            <a:off x="7525512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2551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results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Risk scores, alerts and explanations for six demo patients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export_dashboard_data</a:t>
            </a:r>
            <a:endParaRPr lang="en-US" sz="1000" dirty="0"/>
          </a:p>
        </p:txBody>
      </p:sp>
      <p:sp>
        <p:nvSpPr>
          <p:cNvPr id="27" name="step Console"/>
          <p:cNvSpPr/>
          <p:nvPr/>
        </p:nvSpPr>
        <p:spPr>
          <a:xfrm>
            <a:off x="9546336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8" name="step 5"/>
          <p:cNvSpPr/>
          <p:nvPr/>
        </p:nvSpPr>
        <p:spPr>
          <a:xfrm>
            <a:off x="9774936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749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774936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74936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Offline web dashboard that shows roster, streams and alerts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74936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Every number in the repo's reports is generated from one metrics file, never typed by hand.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model sees, and what counts as a spike</a:t>
            </a:r>
            <a:endParaRPr lang="en-US" sz="3400" dirty="0"/>
          </a:p>
        </p:txBody>
      </p:sp>
      <p:sp>
        <p:nvSpPr>
          <p:cNvPr id="3" name="stat 500"/>
          <p:cNvSpPr/>
          <p:nvPr/>
        </p:nvSpPr>
        <p:spPr>
          <a:xfrm>
            <a:off x="548640" y="16002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virtual patients</a:t>
            </a:r>
            <a:endParaRPr lang="en-US" sz="1400" dirty="0"/>
          </a:p>
        </p:txBody>
      </p:sp>
      <p:sp>
        <p:nvSpPr>
          <p:cNvPr id="6" name="stat 21 days"/>
          <p:cNvSpPr/>
          <p:nvPr/>
        </p:nvSpPr>
        <p:spPr>
          <a:xfrm>
            <a:off x="3291840" y="16002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days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of readings each, every 15 minutes</a:t>
            </a:r>
            <a:endParaRPr lang="en-US" sz="1400" dirty="0"/>
          </a:p>
        </p:txBody>
      </p:sp>
      <p:sp>
        <p:nvSpPr>
          <p:cNvPr id="9" name="stat 1.0 M"/>
          <p:cNvSpPr/>
          <p:nvPr/>
        </p:nvSpPr>
        <p:spPr>
          <a:xfrm>
            <a:off x="548640" y="356616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patient-moments (rows) to learn from</a:t>
            </a:r>
            <a:endParaRPr lang="en-US" sz="1400" dirty="0"/>
          </a:p>
        </p:txBody>
      </p:sp>
      <p:sp>
        <p:nvSpPr>
          <p:cNvPr id="12" name="stat 1.8%"/>
          <p:cNvSpPr/>
          <p:nvPr/>
        </p:nvSpPr>
        <p:spPr>
          <a:xfrm>
            <a:off x="3291840" y="356616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of moments are followed by a spike</a:t>
            </a:r>
            <a:endParaRPr lang="en-US" sz="1400" dirty="0"/>
          </a:p>
        </p:txBody>
      </p:sp>
      <p:sp>
        <p:nvSpPr>
          <p:cNvPr id="15" name="label panel"/>
          <p:cNvSpPr/>
          <p:nvPr/>
        </p:nvSpPr>
        <p:spPr>
          <a:xfrm>
            <a:off x="6309360" y="1600200"/>
            <a:ext cx="5303520" cy="370332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spike means, within the next 2 hours: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3774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30-minute smoothed glucose passes 180 mg/dL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 it rises by 30 mg/dL or more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Smoothing matters: an earlier version fired on sensor noise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Inputs: 12 clinic fields and 5 wearable signals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One model, tested the hard way</a:t>
            </a:r>
            <a:endParaRPr lang="en-US" sz="3400" dirty="0"/>
          </a:p>
        </p:txBody>
      </p:sp>
      <p:sp>
        <p:nvSpPr>
          <p:cNvPr id="3" name="model card"/>
          <p:cNvSpPr/>
          <p:nvPr/>
        </p:nvSpPr>
        <p:spPr>
          <a:xfrm>
            <a:off x="548640" y="1600200"/>
            <a:ext cx="475488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4" name="model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mode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260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Gradient-boosted decision trees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Learns from the clinic record and the live signals together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settings reused for a second, week-ahead heart-strain target</a:t>
            </a:r>
            <a:endParaRPr lang="en-US" sz="1600" dirty="0"/>
          </a:p>
        </p:txBody>
      </p:sp>
      <p:sp>
        <p:nvSpPr>
          <p:cNvPr id="8" name="testing card"/>
          <p:cNvSpPr/>
          <p:nvPr/>
        </p:nvSpPr>
        <p:spPr>
          <a:xfrm>
            <a:off x="5577840" y="1600200"/>
            <a:ext cx="603504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testing"/>
          <p:cNvSpPr/>
          <p:nvPr/>
        </p:nvSpPr>
        <p:spPr>
          <a:xfrm>
            <a:off x="58978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test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12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rules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292608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patient's rows are never in both train and test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Five repeated splits, 25% of patients held out each time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Significance judged across patients, not across folds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claim paired with a control that could disprove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Headline: a useful signal, and an honest number</a:t>
            </a:r>
            <a:endParaRPr lang="en-US" sz="3400" dirty="0"/>
          </a:p>
        </p:txBody>
      </p:sp>
      <p:sp>
        <p:nvSpPr>
          <p:cNvPr id="3" name="headline 0.843"/>
          <p:cNvSpPr/>
          <p:nvPr/>
        </p:nvSpPr>
        <p:spPr>
          <a:xfrm>
            <a:off x="54864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ROC-AUC, averaged over five independent data draws (plus or minus 0.021)</a:t>
            </a:r>
            <a:endParaRPr lang="en-US" sz="1600" dirty="0"/>
          </a:p>
        </p:txBody>
      </p:sp>
      <p:sp>
        <p:nvSpPr>
          <p:cNvPr id="6" name="headline ~1 a day"/>
          <p:cNvSpPr/>
          <p:nvPr/>
        </p:nvSpPr>
        <p:spPr>
          <a:xfrm>
            <a:off x="434340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a day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alerts per patient when the alert budget is set to 1% of moments</a:t>
            </a:r>
            <a:endParaRPr lang="en-US" sz="1600" dirty="0"/>
          </a:p>
        </p:txBody>
      </p:sp>
      <p:sp>
        <p:nvSpPr>
          <p:cNvPr id="9" name="headline 4 in 10"/>
          <p:cNvSpPr/>
          <p:nvPr/>
        </p:nvSpPr>
        <p:spPr>
          <a:xfrm>
            <a:off x="813816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 10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of those alerts are real spikes (precision 0.41), about 14x better than chance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chemeClr val="accent5"/>
                </a:solidFill>
              </a:rPr>
              <a:t>This is the average, not the best run. The shipped model scored 0.876, which was the luckiest of the five draws, and we say so.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Wearable signals are what lift the score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08760"/>
          <a:ext cx="6217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hart takeaways"/>
          <p:cNvSpPr/>
          <p:nvPr/>
        </p:nvSpPr>
        <p:spPr>
          <a:xfrm>
            <a:off x="7132320" y="1600200"/>
            <a:ext cx="44805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06640" y="182880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Shortcut control = clock + current glucose + trend + baseline labs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model beats it by +0.022 (p &lt; 0.001)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Heart-rate variability, sleep and activity give +0.017 of that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gain holds in all 5 data draws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Chart shows the shipped data draw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model leans on most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50876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eature takeaways"/>
          <p:cNvSpPr/>
          <p:nvPr/>
        </p:nvSpPr>
        <p:spPr>
          <a:xfrm>
            <a:off x="7223760" y="1600200"/>
            <a:ext cx="438912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98080" y="182880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two-thirds of the weight sits on live wearable signals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Heart-rate variability (HRV) is the single top signal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 of day is down from 29% in v2 to 15%, no longer the main shortcut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Clinic fields like age and HbA1c still add a steady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We tried to break our own result</a:t>
            </a:r>
            <a:endParaRPr lang="en-US" sz="3400" dirty="0"/>
          </a:p>
        </p:txBody>
      </p:sp>
      <p:sp>
        <p:nvSpPr>
          <p:cNvPr id="3" name="check Shuffled labels"/>
          <p:cNvSpPr/>
          <p:nvPr/>
        </p:nvSpPr>
        <p:spPr>
          <a:xfrm>
            <a:off x="54864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Shuffled labels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Shuffled label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Shuffled labels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Scrambling who spiked drops the score to a coin flip, so the pipeline is not leaking answers.</a:t>
            </a:r>
            <a:endParaRPr lang="en-US" sz="1400" dirty="0"/>
          </a:p>
        </p:txBody>
      </p:sp>
      <p:sp>
        <p:nvSpPr>
          <p:cNvPr id="9" name="check Same patient, shuffled timing"/>
          <p:cNvSpPr/>
          <p:nvPr/>
        </p:nvSpPr>
        <p:spPr>
          <a:xfrm>
            <a:off x="434340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ame patient, shuffled timing"/>
          <p:cNvSpPr/>
          <p:nvPr/>
        </p:nvSpPr>
        <p:spPr>
          <a:xfrm>
            <a:off x="461772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Same patient, shuffled tim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0" y="20002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0.802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patient, shuffled timing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Knowing who the patient is gives most of the score. Their current state adds about +0.06 on top.</a:t>
            </a:r>
            <a:endParaRPr lang="en-US" sz="1400" dirty="0"/>
          </a:p>
        </p:txBody>
      </p:sp>
      <p:sp>
        <p:nvSpPr>
          <p:cNvPr id="15" name="check Five data draws"/>
          <p:cNvSpPr/>
          <p:nvPr/>
        </p:nvSpPr>
        <p:spPr>
          <a:xfrm>
            <a:off x="813816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Five data draws"/>
          <p:cNvSpPr/>
          <p:nvPr/>
        </p:nvSpPr>
        <p:spPr>
          <a:xfrm>
            <a:off x="841248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Five data draw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930" y="20002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 to 0.88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Five data draws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977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score moves with the draw, so we quote the average rather than the best run.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score is only believable once the shortcuts have been tested and the numbers still stand.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Does combining both streams pay off? Mixed</a:t>
            </a:r>
            <a:endParaRPr lang="en-US" sz="3400" dirty="0"/>
          </a:p>
        </p:txBody>
      </p:sp>
      <p:sp>
        <p:nvSpPr>
          <p:cNvPr id="3" name="fusion row 0"/>
          <p:cNvSpPr/>
          <p:nvPr/>
        </p:nvSpPr>
        <p:spPr>
          <a:xfrm>
            <a:off x="548640" y="1600200"/>
            <a:ext cx="7040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vs clinic record alone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</a:rPr>
              <a:t>Clear win (p &lt; 0.001)</a:t>
            </a:r>
            <a:endParaRPr lang="en-US" sz="1400" dirty="0"/>
          </a:p>
        </p:txBody>
      </p:sp>
      <p:sp>
        <p:nvSpPr>
          <p:cNvPr id="7" name="fusion row 1"/>
          <p:cNvSpPr/>
          <p:nvPr/>
        </p:nvSpPr>
        <p:spPr>
          <a:xfrm>
            <a:off x="548640" y="2926080"/>
            <a:ext cx="7040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vs shortcut control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</a:rPr>
              <a:t>Clear win (p &lt; 0.001)</a:t>
            </a:r>
            <a:endParaRPr lang="en-US" sz="1400" dirty="0"/>
          </a:p>
        </p:txBody>
      </p:sp>
      <p:sp>
        <p:nvSpPr>
          <p:cNvPr id="11" name="fusion row 2"/>
          <p:cNvSpPr/>
          <p:nvPr/>
        </p:nvSpPr>
        <p:spPr>
          <a:xfrm>
            <a:off x="548640" y="4251960"/>
            <a:ext cx="7040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43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vs best non-fusion mix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</a:rPr>
              <a:t>Not significant (p = 0.18) and negative in 4 of 5 data draws</a:t>
            </a:r>
            <a:endParaRPr lang="en-US" sz="1400" dirty="0"/>
          </a:p>
        </p:txBody>
      </p:sp>
      <p:sp>
        <p:nvSpPr>
          <p:cNvPr id="15" name="fusion verdict"/>
          <p:cNvSpPr/>
          <p:nvPr/>
        </p:nvSpPr>
        <p:spPr>
          <a:xfrm>
            <a:off x="7863840" y="1600200"/>
            <a:ext cx="3749040" cy="379476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read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Both streams carry signal, and the model uses it. But fusing everything is not proven better than the best single-stream mix. We report it as a negative finding.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'best non-fusion mix' was assembled after seeing the results, so even +0.005 flatters fusion.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Real data: the code works, the gain shrinks</a:t>
            </a:r>
            <a:endParaRPr lang="en-US" sz="3400" dirty="0"/>
          </a:p>
        </p:txBody>
      </p:sp>
      <p:sp>
        <p:nvSpPr>
          <p:cNvPr id="3" name="uci card"/>
          <p:cNvSpPr/>
          <p:nvPr/>
        </p:nvSpPr>
        <p:spPr>
          <a:xfrm>
            <a:off x="548640" y="1600200"/>
            <a:ext cx="548640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Run: UCI Diabetes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70 real patients with type 1 diabetes, 50 scored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code ran unchanged on real data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Gain over naive baseline: +0.006 (p &lt; 0.001), about 4x smaller than synthetic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AUC of 0.98 is not comparable: 54% of moments are spikes and the naive baseline already scores 0.977</a:t>
            </a:r>
            <a:endParaRPr lang="en-US" sz="1600" dirty="0"/>
          </a:p>
        </p:txBody>
      </p:sp>
      <p:sp>
        <p:nvSpPr>
          <p:cNvPr id="6" name="bigideas card"/>
          <p:cNvSpPr/>
          <p:nvPr/>
        </p:nvSpPr>
        <p:spPr>
          <a:xfrm>
            <a:off x="6309360" y="1600200"/>
            <a:ext cx="530352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Pending: BIG IDEAs Lab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16 prediabetic adults with glucose, wearable and clinic table for the same people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one cohort that can test fusion properly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Downloader, converter and checks are built, but only 6 of 16 are downloaded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paired test has not been run, so no number is quoted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clinician console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Six virtual patients, picked by a clinical rule set in advance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Roster with live risk levels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Glucose, heart-rate and HRV streams with real spikes marked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 feed and a per-feature explanation of each score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Runs offline, with a clear synthetic-data, not-for-clinical-use banner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303520" y="150876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conceptual front end over precomputed output. Not a live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Scores fell as our checks got stricter</a:t>
            </a:r>
            <a:endParaRPr lang="en-US" sz="3400" dirty="0"/>
          </a:p>
        </p:txBody>
      </p:sp>
      <p:sp>
        <p:nvSpPr>
          <p:cNvPr id="3" name="version v1"/>
          <p:cNvSpPr/>
          <p:nvPr/>
        </p:nvSpPr>
        <p:spPr>
          <a:xfrm>
            <a:off x="54864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One clinic field (diabetes diagnosis) did the work: 82% of the weight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Caught by the same-patient label shuffle</a:t>
            </a:r>
            <a:endParaRPr lang="en-US" sz="1400" dirty="0"/>
          </a:p>
        </p:txBody>
      </p:sp>
      <p:sp>
        <p:nvSpPr>
          <p:cNvPr id="8" name="version v2"/>
          <p:cNvSpPr/>
          <p:nvPr/>
        </p:nvSpPr>
        <p:spPr>
          <a:xfrm>
            <a:off x="434340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The answer was hidden in the meal clock: time of day alone gave 29%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Caught by the shortcut baseline</a:t>
            </a:r>
            <a:endParaRPr lang="en-US" sz="1400" dirty="0"/>
          </a:p>
        </p:txBody>
      </p:sp>
      <p:sp>
        <p:nvSpPr>
          <p:cNvPr id="13" name="version v3"/>
          <p:cNvSpPr/>
          <p:nvPr/>
        </p:nvSpPr>
        <p:spPr>
          <a:xfrm>
            <a:off x="813816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0.843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832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/>
                </a:solidFill>
              </a:rPr>
              <a:t>Labels fixed, controls added, five-draw average, tests and CI in place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number we stand behind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high AUC is not evidence of a good model until a shortcut baseline has been run against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the project delivers</a:t>
            </a:r>
            <a:endParaRPr lang="en-US" sz="3400" dirty="0"/>
          </a:p>
        </p:txBody>
      </p:sp>
      <p:sp>
        <p:nvSpPr>
          <p:cNvPr id="3" name="outcome End-to-end pipeline"/>
          <p:cNvSpPr/>
          <p:nvPr/>
        </p:nvSpPr>
        <p:spPr>
          <a:xfrm>
            <a:off x="54864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4" name="End-to-end pipeline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End-to-end pipeli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Data, features, model, reports and console all run from five commands</a:t>
            </a:r>
            <a:endParaRPr lang="en-US" sz="1400" dirty="0"/>
          </a:p>
        </p:txBody>
      </p:sp>
      <p:sp>
        <p:nvSpPr>
          <p:cNvPr id="8" name="outcome Working predictor"/>
          <p:cNvSpPr/>
          <p:nvPr/>
        </p:nvSpPr>
        <p:spPr>
          <a:xfrm>
            <a:off x="434340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9" name="Working predictor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Working predicto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65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predictor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0.843 ROC-AUC with a 2-hour warning, calibrated risk scores</a:t>
            </a:r>
            <a:endParaRPr lang="en-US" sz="1400" dirty="0"/>
          </a:p>
        </p:txBody>
      </p:sp>
      <p:sp>
        <p:nvSpPr>
          <p:cNvPr id="13" name="outcome Wearables proven useful"/>
          <p:cNvSpPr/>
          <p:nvPr/>
        </p:nvSpPr>
        <p:spPr>
          <a:xfrm>
            <a:off x="813816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14" name="Wearables proven useful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Wearables proven usefu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965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Wearables proven useful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+0.022 over a clock-and-glucose shortcut, in 5 of 5 data draws</a:t>
            </a:r>
            <a:endParaRPr lang="en-US" sz="1400" dirty="0"/>
          </a:p>
        </p:txBody>
      </p:sp>
      <p:sp>
        <p:nvSpPr>
          <p:cNvPr id="18" name="outcome Honest evaluation kit"/>
          <p:cNvSpPr/>
          <p:nvPr/>
        </p:nvSpPr>
        <p:spPr>
          <a:xfrm>
            <a:off x="54864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19" name="Honest evaluation kit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Honest evaluation ki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 kit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Leakage tests, seed sweep, patient-level significance, alert budgets</a:t>
            </a:r>
            <a:endParaRPr lang="en-US" sz="1400" dirty="0"/>
          </a:p>
        </p:txBody>
      </p:sp>
      <p:sp>
        <p:nvSpPr>
          <p:cNvPr id="23" name="outcome Real-data protocol"/>
          <p:cNvSpPr/>
          <p:nvPr/>
        </p:nvSpPr>
        <p:spPr>
          <a:xfrm>
            <a:off x="434340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24" name="Real-data protocol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Real-data protocol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2062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Real-data protocol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Ran unchanged on 70 real patients; second cohort wired up</a:t>
            </a:r>
            <a:endParaRPr lang="en-US" sz="1400" dirty="0"/>
          </a:p>
        </p:txBody>
      </p:sp>
      <p:sp>
        <p:nvSpPr>
          <p:cNvPr id="28" name="outcome Reproducible and open"/>
          <p:cNvSpPr/>
          <p:nvPr/>
        </p:nvSpPr>
        <p:spPr>
          <a:xfrm>
            <a:off x="813816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29" name="Reproducible and open"/>
          <p:cNvSpPr/>
          <p:nvPr/>
        </p:nvSpPr>
        <p:spPr>
          <a:xfrm>
            <a:off x="841248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Reproducible and ope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0" y="42062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982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and open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Tests, CI and MIT licence; no raw real data committed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not proven yet, and what comes next</a:t>
            </a:r>
            <a:endParaRPr lang="en-US" sz="3400" dirty="0"/>
          </a:p>
        </p:txBody>
      </p:sp>
      <p:sp>
        <p:nvSpPr>
          <p:cNvPr id="3" name="limits card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proven yet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Synthetic data is not real physiology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Fusion benefit is untested on real paired data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Much of the score comes from who the patient is, not their current state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Week-ahead heart-strain target is weak (AUC 0.64)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Console is a static demo: no login, audit trail or drift checks</a:t>
            </a:r>
            <a:endParaRPr lang="en-US" sz="1600" dirty="0"/>
          </a:p>
        </p:txBody>
      </p:sp>
      <p:sp>
        <p:nvSpPr>
          <p:cNvPr id="6" name="next card"/>
          <p:cNvSpPr/>
          <p:nvPr/>
        </p:nvSpPr>
        <p:spPr>
          <a:xfrm>
            <a:off x="630936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next 1"/>
          <p:cNvSpPr/>
          <p:nvPr/>
        </p:nvSpPr>
        <p:spPr>
          <a:xfrm>
            <a:off x="662940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377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Run the BIG IDEAs paired fusion test</a:t>
            </a:r>
            <a:endParaRPr lang="en-US" sz="1500" dirty="0"/>
          </a:p>
        </p:txBody>
      </p:sp>
      <p:sp>
        <p:nvSpPr>
          <p:cNvPr id="11" name="next 2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200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Find CGM-grade real data with a matching clinic record</a:t>
            </a:r>
            <a:endParaRPr lang="en-US" sz="1500" dirty="0"/>
          </a:p>
        </p:txBody>
      </p:sp>
      <p:sp>
        <p:nvSpPr>
          <p:cNvPr id="14" name="next 3"/>
          <p:cNvSpPr/>
          <p:nvPr/>
        </p:nvSpPr>
        <p:spPr>
          <a:xfrm>
            <a:off x="662940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4023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Tune alert thresholds per patient</a:t>
            </a:r>
            <a:endParaRPr lang="en-US" sz="1500" dirty="0"/>
          </a:p>
        </p:txBody>
      </p:sp>
      <p:sp>
        <p:nvSpPr>
          <p:cNvPr id="17" name="next 4"/>
          <p:cNvSpPr/>
          <p:nvPr/>
        </p:nvSpPr>
        <p:spPr>
          <a:xfrm>
            <a:off x="662940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846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</a:rPr>
              <a:t>Add login, audit logging, alert-fatigue and drift monitoring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Twin Warm Clinic">
  <a:themeElements>
    <a:clrScheme name="Digital Twin Warm Clinic">
      <a:dk1>
        <a:srgbClr val="1E2A2A"/>
      </a:dk1>
      <a:lt1>
        <a:srgbClr val="FFFFFF"/>
      </a:lt1>
      <a:dk2>
        <a:srgbClr val="17302F"/>
      </a:dk2>
      <a:lt2>
        <a:srgbClr val="EEF3F1"/>
      </a:lt2>
      <a:accent1>
        <a:srgbClr val="E5634D"/>
      </a:accent1>
      <a:accent2>
        <a:srgbClr val="2F7F79"/>
      </a:accent2>
      <a:accent3>
        <a:srgbClr val="7FA99B"/>
      </a:accent3>
      <a:accent4>
        <a:srgbClr val="E9B44C"/>
      </a:accent4>
      <a:accent5>
        <a:srgbClr val="5E6C6B"/>
      </a:accent5>
      <a:accent6>
        <a:srgbClr val="B8D3CB"/>
      </a:accent6>
      <a:hlink>
        <a:srgbClr val="2F7F79"/>
      </a:hlink>
      <a:folHlink>
        <a:srgbClr val="5E6C6B"/>
      </a:folHlink>
    </a:clrScheme>
    <a:fontScheme name="Digital Twin Warm Clin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1343</Words>
  <Application>Microsoft Office PowerPoint</Application>
  <PresentationFormat>Widescreen</PresentationFormat>
  <Paragraphs>195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Digital Twin Warm Clinic</vt:lpstr>
      <vt:lpstr>A digital twin that warns of glucose spikes early</vt:lpstr>
      <vt:lpstr>Join who the patient is with what is happening now</vt:lpstr>
      <vt:lpstr>How the project works, from raw data to dashboard</vt:lpstr>
      <vt:lpstr>What the model sees, and what counts as a spike</vt:lpstr>
      <vt:lpstr>One model, tested the hard way</vt:lpstr>
      <vt:lpstr>Headline: a useful signal, and an honest number</vt:lpstr>
      <vt:lpstr>Wearable signals are what lift the score</vt:lpstr>
      <vt:lpstr>What the model leans on most</vt:lpstr>
      <vt:lpstr>We tried to break our own result</vt:lpstr>
      <vt:lpstr>Does combining both streams pay off? Mixed</vt:lpstr>
      <vt:lpstr>Real data: the code works, the gain shrinks</vt:lpstr>
      <vt:lpstr>The clinician console</vt:lpstr>
      <vt:lpstr>Scores fell as our checks got stricter</vt:lpstr>
      <vt:lpstr>What the project delivers</vt:lpstr>
      <vt:lpstr>What is not proven yet, and what comes next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PoC: Predictive Glucose-Spike Alert</dc:title>
  <dc:subject>PptxGenJS Presentation</dc:subject>
  <dc:creator>PptxGenJS</dc:creator>
  <cp:lastModifiedBy>dell</cp:lastModifiedBy>
  <cp:revision>2</cp:revision>
  <dcterms:created xsi:type="dcterms:W3CDTF">2026-10-24T16:51:30Z</dcterms:created>
  <dcterms:modified xsi:type="dcterms:W3CDTF">2026-10-24T17:11:01Z</dcterms:modified>
</cp:coreProperties>
</file>